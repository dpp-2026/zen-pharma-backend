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2" r:id="rId11"/>
    <p:sldId id="264" r:id="rId12"/>
    <p:sldId id="27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5" r:id="rId25"/>
    <p:sldId id="276" r:id="rId26"/>
    <p:sldId id="277" r:id="rId27"/>
    <p:sldId id="278" r:id="rId2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33" y="0"/>
            <a:ext cx="12188952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Continuous Integration &amp;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A896"/>
                </a:solidFill>
              </a:rPr>
              <a:t>zen-pharma-backend  ·  zen-pharma-frontend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DCCF5"/>
                </a:solidFill>
              </a:rPr>
              <a:t>GitHub Actions  ·  AWS ECR  ·  ArgoCD  ·  EKS  ·  GitOps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265176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9</a:t>
            </a:r>
            <a:r>
              <a:rPr sz="1400" b="1" dirty="0">
                <a:solidFill>
                  <a:srgbClr val="FFFFFF"/>
                </a:solidFill>
              </a:rPr>
              <a:t> Microservices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114800"/>
            <a:ext cx="2651760" cy="502920"/>
          </a:xfrm>
          <a:prstGeom prst="round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DevSecOps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114800"/>
            <a:ext cx="2651760" cy="5029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Build Once Deploy Many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Zen Pharma Platform  | 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84048" cy="420624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0759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1280160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321307"/>
            <a:ext cx="49377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What is CI/CD &amp; Our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84248"/>
            <a:ext cx="384048" cy="420624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79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" y="1984248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2025395"/>
            <a:ext cx="49377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Branching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88336"/>
            <a:ext cx="384048" cy="420624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71576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2688336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2729484"/>
            <a:ext cx="49377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Developer Workflow (Local → Remote)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92424"/>
            <a:ext cx="384048" cy="420624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41985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" y="3392424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3433572"/>
            <a:ext cx="49377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GitHub Actions: Workflow Components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96512"/>
            <a:ext cx="384048" cy="420624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12394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" y="4096512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6" y="4137660"/>
            <a:ext cx="49377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Three-Tier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00600"/>
            <a:ext cx="384048" cy="42062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82803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" y="4800600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" y="4841748"/>
            <a:ext cx="49377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DevSecOps Security Stages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280160"/>
            <a:ext cx="384048" cy="42062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130759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21424" y="1280160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94576" y="1321307"/>
            <a:ext cx="49377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Build Once, Deploy Many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84248"/>
            <a:ext cx="384048" cy="42062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2011679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21424" y="1984248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94576" y="2025395"/>
            <a:ext cx="49377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GitOps &amp; ArgoCD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688336"/>
            <a:ext cx="384048" cy="42062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271576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21424" y="2688336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94576" y="2729484"/>
            <a:ext cx="49377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Environment Promotion: DEV → QA → PROD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392424"/>
            <a:ext cx="384048" cy="420624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341985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21424" y="3392424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94576" y="3433572"/>
            <a:ext cx="49377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Frontend CI (zen-pharma-frontend)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096512"/>
            <a:ext cx="384048" cy="42062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0" y="412394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21424" y="4096512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94576" y="4137660"/>
            <a:ext cx="49377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Post-Deployment: Rollback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800600"/>
            <a:ext cx="384048" cy="42062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0" y="482803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21424" y="4800600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94576" y="4841748"/>
            <a:ext cx="49377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Post-Deployment: Bugfix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504688"/>
            <a:ext cx="384048" cy="420624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5321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5504688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5545836"/>
            <a:ext cx="49377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CD Prerequisites: Standing Up ArgoCD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208776"/>
            <a:ext cx="384048" cy="420624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6208776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6249924"/>
            <a:ext cx="49377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Why Helm Charts, Not Raw K8s Manifests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504688"/>
            <a:ext cx="384048" cy="42062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55321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21424" y="5504688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94576" y="5545836"/>
            <a:ext cx="49377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Values File Flow: CI → ArgoCD → Deploy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6208776"/>
            <a:ext cx="384048" cy="42062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623620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21424" y="6208776"/>
            <a:ext cx="5120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94576" y="6249924"/>
            <a:ext cx="49377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Kubernetes Resources per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CI/CD?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Continuous Integration · Continuous Delivery · Continuous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1A5496"/>
                </a:solidFill>
              </a:rPr>
              <a:t>▶  Continuous Integration (CI)</a:t>
            </a:r>
          </a:p>
          <a:p>
            <a:pPr algn="l"/>
            <a:r>
              <a:rPr sz="1300" b="0" i="0">
                <a:solidFill>
                  <a:srgbClr val="1C2B3A"/>
                </a:solidFill>
              </a:rPr>
              <a:t>Every code push triggers an automated pipeline — compile, test, scan. Developers get feedback in minutes, not days.</a:t>
            </a:r>
          </a:p>
          <a:p>
            <a:pPr algn="l"/>
            <a:endParaRPr sz="1300" b="0" i="0">
              <a:solidFill>
                <a:srgbClr val="1C2B3A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1A5496"/>
                </a:solidFill>
              </a:rPr>
              <a:t>▶  Continuous Delivery (CD)</a:t>
            </a:r>
          </a:p>
          <a:p>
            <a:pPr algn="l"/>
            <a:r>
              <a:rPr sz="1300" b="0" i="0">
                <a:solidFill>
                  <a:srgbClr val="1C2B3A"/>
                </a:solidFill>
              </a:rPr>
              <a:t>The tested artifact (Docker image) is always ready to deploy to any environment through a controlled, automated promotion process.</a:t>
            </a:r>
          </a:p>
          <a:p>
            <a:pPr algn="l"/>
            <a:endParaRPr sz="1300" b="0" i="0">
              <a:solidFill>
                <a:srgbClr val="1C2B3A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1A5496"/>
                </a:solidFill>
              </a:rPr>
              <a:t>▶  Continuous Deployment</a:t>
            </a:r>
          </a:p>
          <a:p>
            <a:pPr algn="l"/>
            <a:r>
              <a:rPr sz="1300" b="0" i="0">
                <a:solidFill>
                  <a:srgbClr val="1C2B3A"/>
                </a:solidFill>
              </a:rPr>
              <a:t>DEV deploys fully automatically. QA and PROD require human approval gates — striking the right balance between speed and safety.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73152" cy="749808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18872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24358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496"/>
                </a:solidFill>
              </a:rPr>
              <a:t>GitHub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5727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CI Orchestration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212848"/>
            <a:ext cx="73152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2212848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26771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</a:rPr>
              <a:t>AWS ECR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968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Container Image Registry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36976"/>
            <a:ext cx="73152" cy="7498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92240" y="3236976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329184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896"/>
                </a:solidFill>
              </a:rPr>
              <a:t>ArgoCD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6210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GitOps Continuous Delivery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261104"/>
            <a:ext cx="73152" cy="749808"/>
          </a:xfrm>
          <a:prstGeom prst="rect">
            <a:avLst/>
          </a:prstGeom>
          <a:solidFill>
            <a:srgbClr val="23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92240" y="4261104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431596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6BA0"/>
                </a:solidFill>
              </a:rPr>
              <a:t>AWS 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6451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Kubernetes Cluster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285232"/>
            <a:ext cx="73152" cy="74980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92240" y="5285232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534009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E44AD"/>
                </a:solidFill>
              </a:rPr>
              <a:t>zen-gitops repo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6692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Declarative Deployment Config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Pattern: GitOps · Build Once Deploy Many · PR-based Promotion Gates · Supply-Chain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Branching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How code flows from developer machines to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91440" cy="640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188720"/>
            <a:ext cx="3017520" cy="640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325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feat-* / fix-* / chore-*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188720"/>
            <a:ext cx="83210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225296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Feature branches — developer's sandbox.
Push here triggers lightweight security checks (SAST, SCA).
~5 min feedback. No Docker build, no ECR push.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51760"/>
            <a:ext cx="9144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2651760"/>
            <a:ext cx="301752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2788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develop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651760"/>
            <a:ext cx="83210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2688336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Integration branch — the source of truth for what's in PROD.
Merge triggers full pipeline: build → scan → ECR → DEV deploy → open QA PR.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14800"/>
            <a:ext cx="9144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4114800"/>
            <a:ext cx="301752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release/**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4114800"/>
            <a:ext cx="83210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20440" y="4151376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Sprint release / hotfix branches — same full pipeline as develop.
Used for isolating a specific set of changes before a release cut.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577840"/>
            <a:ext cx="91440" cy="64008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4048" y="5577840"/>
            <a:ext cx="3017520" cy="64008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" y="5715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5577840"/>
            <a:ext cx="83210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20440" y="5614416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Stable snapshot — represents what was last confirmed in PROD.
No CI trigger. Updated manually after PROD stabilises.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PR → merge 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PR → merge 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PR → merge 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26364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Why no CI on main?  main is updated after PROD stabilises — it's a snapshot, not a delivery vehicle. PROD is promoted via promote-prod.yml, not by pushing to main.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Developer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From local machine to production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743200" cy="47548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31673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  Local Dev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09928"/>
            <a:ext cx="274320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25786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Write code, run tests locally
(mvn verify / npm test)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554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234440"/>
            <a:ext cx="2743200" cy="47548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9272" y="131673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  Push feat branch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709928"/>
            <a:ext cx="274320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7560" y="1783080"/>
            <a:ext cx="25786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git push → triggers ci-pr-&lt;service&gt;.yml
~5 min: Lint · Tests · CodeQL · Semgrep · OWASP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554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2743200" cy="47548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1072" y="131673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 Open PR → develop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709928"/>
            <a:ext cx="274320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59" y="1783080"/>
            <a:ext cx="25786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Code review by peers.
CI check must pass before merge is allowed.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554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234440"/>
            <a:ext cx="274320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62872" y="131673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  Merge to develop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1709928"/>
            <a:ext cx="274320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81160" y="1783080"/>
            <a:ext cx="25786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Full pipeline fires: Build · Scan · ECR push
→ DEV auto-deploys · QA Promotion PR opens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840480"/>
            <a:ext cx="274320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392277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  QA Promotion PR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315968"/>
            <a:ext cx="274320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4389120"/>
            <a:ext cx="25786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QA team reviews &amp; merges PR in zen-gitops.
ArgoCD auto-syncs QA environment.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160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3840480"/>
            <a:ext cx="2743200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19272" y="392277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  Release Manager → PROD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4315968"/>
            <a:ext cx="274320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37560" y="4389120"/>
            <a:ext cx="25786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Triggers promote-prod.yml manually.
PROD PR created in zen-gitops → reviewed &amp; merged.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160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840480"/>
            <a:ext cx="2743200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91072" y="392277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7  ArgoCD PROD Sync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315968"/>
            <a:ext cx="274320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59" y="4389120"/>
            <a:ext cx="25786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Engineer clicks Sync in ArgoCD UI
at maintenance window. Pods roll over.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</a:rPr>
              <a:t>↓  continues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GitHub Actions: Workflow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How workflow files are structured in zen-pharma-backend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91440" cy="1143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96"/>
                </a:solidFill>
              </a:rPr>
              <a:t>Reusable Building 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13915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6C757D"/>
                </a:solidFill>
              </a:rPr>
              <a:t>_java-</a:t>
            </a:r>
            <a:r>
              <a:rPr sz="1200" b="0" i="1" dirty="0" err="1">
                <a:solidFill>
                  <a:srgbClr val="6C757D"/>
                </a:solidFill>
              </a:rPr>
              <a:t>build.yml</a:t>
            </a:r>
            <a:r>
              <a:rPr sz="1200" b="0" i="1" dirty="0">
                <a:solidFill>
                  <a:srgbClr val="6C757D"/>
                </a:solidFill>
              </a:rPr>
              <a:t>
_node-</a:t>
            </a:r>
            <a:r>
              <a:rPr sz="1200" b="0" i="1" dirty="0" err="1">
                <a:solidFill>
                  <a:srgbClr val="6C757D"/>
                </a:solidFill>
              </a:rPr>
              <a:t>build.yml</a:t>
            </a:r>
            <a:r>
              <a:rPr sz="1200" b="0" i="1" dirty="0">
                <a:solidFill>
                  <a:srgbClr val="6C757D"/>
                </a:solidFill>
              </a:rPr>
              <a:t>
_java-pr-</a:t>
            </a:r>
            <a:r>
              <a:rPr sz="1200" b="0" i="1" dirty="0" err="1">
                <a:solidFill>
                  <a:srgbClr val="6C757D"/>
                </a:solidFill>
              </a:rPr>
              <a:t>check.yml</a:t>
            </a:r>
            <a:r>
              <a:rPr sz="1200" b="0" i="1" dirty="0">
                <a:solidFill>
                  <a:srgbClr val="6C757D"/>
                </a:solidFill>
              </a:rPr>
              <a:t>
_node-pr-</a:t>
            </a:r>
            <a:r>
              <a:rPr sz="1200" b="0" i="1" dirty="0" err="1">
                <a:solidFill>
                  <a:srgbClr val="6C757D"/>
                </a:solidFill>
              </a:rPr>
              <a:t>check.yml</a:t>
            </a:r>
            <a:endParaRPr sz="1200" b="0" i="1" dirty="0">
              <a:solidFill>
                <a:srgbClr val="6C757D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173735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1C2B3A"/>
                </a:solidFill>
              </a:rPr>
              <a:t>Shared pipeline logic — 8 stages in one place.
Change </a:t>
            </a:r>
            <a:r>
              <a:rPr sz="1150" b="0" i="0" dirty="0" err="1">
                <a:solidFill>
                  <a:srgbClr val="1C2B3A"/>
                </a:solidFill>
              </a:rPr>
              <a:t>Trivy</a:t>
            </a:r>
            <a:r>
              <a:rPr sz="1150" b="0" i="0" dirty="0">
                <a:solidFill>
                  <a:srgbClr val="1C2B3A"/>
                </a:solidFill>
              </a:rPr>
              <a:t> version once → all </a:t>
            </a:r>
            <a:r>
              <a:rPr lang="en-US" sz="1150" dirty="0">
                <a:solidFill>
                  <a:srgbClr val="1C2B3A"/>
                </a:solidFill>
              </a:rPr>
              <a:t>8</a:t>
            </a:r>
            <a:r>
              <a:rPr sz="1150" b="0" i="0" dirty="0">
                <a:solidFill>
                  <a:srgbClr val="1C2B3A"/>
                </a:solidFill>
              </a:rPr>
              <a:t> services updated.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14600"/>
            <a:ext cx="91440" cy="1143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Feature Branch Checks  (ci-pr-*.yml)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71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</a:rPr>
              <a:t>ci-pr-auth-service.yml  ×7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6440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1C2B3A"/>
                </a:solidFill>
              </a:rPr>
              <a:t>Triggered on feat-*/fix-*/chore-* push or PR → develop.
Lightweight: no Docker, no ECR. ~5 min.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40480"/>
            <a:ext cx="91440" cy="114300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496"/>
                </a:solidFill>
              </a:rPr>
              <a:t>Full Build + Deploy  (ci-*.yml)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</a:rPr>
              <a:t>ci-auth-service.yml  ×7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9028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Triggered on develop / release/** push.
Full pipeline: build · scan · ECR · DEV · QA PR.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166359"/>
            <a:ext cx="91440" cy="1143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52120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PROD Promotion  (promote-prod.yml)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2355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C757D"/>
                </a:solidFill>
              </a:rPr>
              <a:t>Single file, service dropdown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1616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Manual workflow_dispatch only.
Release Manager selects service, workflow opens PROD PR.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1143000"/>
            <a:ext cx="6675120" cy="438912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0" y="1188720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Branch → Trigger Matrix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1600200"/>
            <a:ext cx="6675120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212080" y="1600200"/>
            <a:ext cx="73152" cy="10058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9240" y="16459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</a:rPr>
              <a:t>Push: feat-* fix-* chore-*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198424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→ ci-pr-*.yml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1783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Lint · Test · SAST · SCA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679191"/>
            <a:ext cx="6675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212080" y="2679191"/>
            <a:ext cx="73152" cy="10058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49240" y="272491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</a:rPr>
              <a:t>PR → develop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3063239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→ ci-pr-*.yml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8620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Same (gate before merge)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3758183"/>
            <a:ext cx="6675120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212080" y="3758183"/>
            <a:ext cx="73152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49240" y="380390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</a:rPr>
              <a:t>Push: develop / release/**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4142231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→ ci-*.yml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941063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Full build + ECR + DEV + QA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80" y="4837176"/>
            <a:ext cx="6675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212080" y="4837176"/>
            <a:ext cx="73152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49240" y="488289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3A"/>
                </a:solidFill>
              </a:rPr>
              <a:t>workflow_dispatch (manual)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522122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→ promote-prod.yml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02005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Read QA tag → PROD PR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29107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Path filters on every workflow — only the affected service rebuilds. A change to notification-service/ does not trigger api-gateway 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Three-Tier CI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Each tier adds more gates — proportional to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3794760" cy="47548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7043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1 · Feature 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618488"/>
            <a:ext cx="3794760" cy="3474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63677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5496"/>
                </a:solidFill>
              </a:rPr>
              <a:t>ci-pr-*.yml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965960"/>
            <a:ext cx="3794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98424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Trigger: push feat-* / fix-* / chore-*
or PR → develop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468880"/>
            <a:ext cx="379476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" y="2514600"/>
            <a:ext cx="358444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7AE60"/>
                </a:solidFill>
              </a:rPr>
              <a:t>✓  Unit Tests (Maven / Jest)</a:t>
            </a:r>
          </a:p>
          <a:p>
            <a:r>
              <a:rPr sz="1150">
                <a:solidFill>
                  <a:srgbClr val="27AE60"/>
                </a:solidFill>
              </a:rPr>
              <a:t>✓  CodeQL SAST</a:t>
            </a:r>
          </a:p>
          <a:p>
            <a:r>
              <a:rPr sz="1150">
                <a:solidFill>
                  <a:srgbClr val="27AE60"/>
                </a:solidFill>
              </a:rPr>
              <a:t>✓  Semgrep SAST</a:t>
            </a:r>
          </a:p>
          <a:p>
            <a:r>
              <a:rPr sz="1150">
                <a:solidFill>
                  <a:srgbClr val="27AE60"/>
                </a:solidFill>
              </a:rPr>
              <a:t>✓  OWASP Dependency Check</a:t>
            </a:r>
          </a:p>
          <a:p>
            <a:r>
              <a:rPr sz="1150">
                <a:solidFill>
                  <a:srgbClr val="E74C3C"/>
                </a:solidFill>
              </a:rPr>
              <a:t>✗  No Docker build</a:t>
            </a:r>
          </a:p>
          <a:p>
            <a:r>
              <a:rPr sz="1150">
                <a:solidFill>
                  <a:srgbClr val="E74C3C"/>
                </a:solidFill>
              </a:rPr>
              <a:t>✗  No ECR push</a:t>
            </a:r>
          </a:p>
          <a:p>
            <a:r>
              <a:rPr sz="1150">
                <a:solidFill>
                  <a:srgbClr val="E74C3C"/>
                </a:solidFill>
              </a:rPr>
              <a:t>✗  No GitOps update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5715000"/>
            <a:ext cx="3794760" cy="411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573328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~5 min  |  Fast feedback, zero side-effects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3672" y="1143000"/>
            <a:ext cx="379476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25112" y="117043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2 · develop / release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3672" y="1618488"/>
            <a:ext cx="3794760" cy="3474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5112" y="163677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5496"/>
                </a:solidFill>
              </a:rPr>
              <a:t>ci-*.yml  (3 jobs)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3672" y="1965960"/>
            <a:ext cx="3794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5112" y="198424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Trigger: push to develop or release/**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3672" y="2468880"/>
            <a:ext cx="379476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2514600"/>
            <a:ext cx="358444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C2B3A"/>
                </a:solidFill>
              </a:rPr>
              <a:t>Job 1 · build</a:t>
            </a:r>
          </a:p>
          <a:p>
            <a:r>
              <a:rPr sz="1150">
                <a:solidFill>
                  <a:srgbClr val="1C2B3A"/>
                </a:solidFill>
              </a:rPr>
              <a:t>   Maven/npm · CodeQL · Semgrep · OWASP</a:t>
            </a:r>
          </a:p>
          <a:p>
            <a:r>
              <a:rPr sz="1150">
                <a:solidFill>
                  <a:srgbClr val="1C2B3A"/>
                </a:solidFill>
              </a:rPr>
              <a:t>   Docker build (non-root UID 1000)</a:t>
            </a:r>
          </a:p>
          <a:p>
            <a:r>
              <a:rPr sz="1150">
                <a:solidFill>
                  <a:srgbClr val="1C2B3A"/>
                </a:solidFill>
              </a:rPr>
              <a:t>   Trivy scan (fail HIGH/CRITICAL)</a:t>
            </a:r>
          </a:p>
          <a:p>
            <a:r>
              <a:rPr sz="1150">
                <a:solidFill>
                  <a:srgbClr val="1C2B3A"/>
                </a:solidFill>
              </a:rPr>
              <a:t>   ECR push → sha-&lt;7chars&gt;</a:t>
            </a:r>
          </a:p>
          <a:p>
            <a:r>
              <a:rPr sz="1150">
                <a:solidFill>
                  <a:srgbClr val="1C2B3A"/>
                </a:solidFill>
              </a:rPr>
              <a:t>   Cosign keyless sign</a:t>
            </a:r>
          </a:p>
          <a:p>
            <a:r>
              <a:rPr sz="1150">
                <a:solidFill>
                  <a:srgbClr val="1C2B3A"/>
                </a:solidFill>
              </a:rPr>
              <a:t>Job 2 · deploy-dev  → zen-gitops commit</a:t>
            </a:r>
          </a:p>
          <a:p>
            <a:r>
              <a:rPr sz="1150">
                <a:solidFill>
                  <a:srgbClr val="1C2B3A"/>
                </a:solidFill>
              </a:rPr>
              <a:t>Job 3 · open-qa-pr  → PR in zen-gitops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3672" y="5715000"/>
            <a:ext cx="379476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5112" y="573328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~15 min  |  Full pipeline, DEV auto-deploy, QA PR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38744" y="1143000"/>
            <a:ext cx="3794760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0183" y="117043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3 · PROD Promotion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38744" y="1618488"/>
            <a:ext cx="3794760" cy="3474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0183" y="163677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5496"/>
                </a:solidFill>
              </a:rPr>
              <a:t>promote-prod.yml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1965960"/>
            <a:ext cx="3794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30183" y="198424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Trigger: manual workflow_dispatch
(Release Manager selects service)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38744" y="2468880"/>
            <a:ext cx="379476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48471" y="2514600"/>
            <a:ext cx="358444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C2B3A"/>
                </a:solidFill>
              </a:rPr>
              <a:t>Read image tag from QA values file</a:t>
            </a:r>
          </a:p>
          <a:p>
            <a:r>
              <a:rPr sz="1150">
                <a:solidFill>
                  <a:srgbClr val="1C2B3A"/>
                </a:solidFill>
              </a:rPr>
              <a:t>Validate PROD values file exists</a:t>
            </a:r>
          </a:p>
          <a:p>
            <a:r>
              <a:rPr sz="1150">
                <a:solidFill>
                  <a:srgbClr val="1C2B3A"/>
                </a:solidFill>
              </a:rPr>
              <a:t>Open PROD PR in zen-gitops</a:t>
            </a:r>
          </a:p>
          <a:p>
            <a:r>
              <a:rPr sz="1150">
                <a:solidFill>
                  <a:srgbClr val="1C2B3A"/>
                </a:solidFill>
              </a:rPr>
              <a:t>Requires: Release Manager + QA Lead approval</a:t>
            </a:r>
          </a:p>
          <a:p>
            <a:r>
              <a:rPr sz="1150">
                <a:solidFill>
                  <a:srgbClr val="1C2B3A"/>
                </a:solidFill>
              </a:rPr>
              <a:t>After merge: ArgoCD OutOfSync</a:t>
            </a:r>
          </a:p>
          <a:p>
            <a:r>
              <a:rPr sz="1150">
                <a:solidFill>
                  <a:srgbClr val="1C2B3A"/>
                </a:solidFill>
              </a:rPr>
              <a:t>Engineer syncs at maintenance window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38744" y="5715000"/>
            <a:ext cx="379476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30183" y="573328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~5 min workflow  |  Intentional, audited, gated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05072" y="32918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7D"/>
                </a:solidFill>
              </a:rPr>
              <a:t>PR merged
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3291840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7D"/>
                </a:solidFill>
              </a:rPr>
              <a:t>workflow_dispatch
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DevSecOps: Security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Shift security left — every stage has a specific purpose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3749039" cy="4389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527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  SAST  ·  CodeQL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62763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1700784"/>
            <a:ext cx="35478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github/codeql-action
security-extended queries
Builds full call graph + data flow model
Finds SQL injection, XSS, path traversal across layers
Uploads SARIF → GitHub Security tab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776472"/>
            <a:ext cx="3749039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380390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5496"/>
                </a:solidFill>
              </a:rPr>
              <a:t>Runs on: Feature + develop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188720"/>
            <a:ext cx="3749039" cy="4389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15968" y="12527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  SAST  ·  Semgrep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162763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4256" y="1700784"/>
            <a:ext cx="35478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semgrep/semgrep-action
p/spring-boot · p/java · p/owasp-top-ten · p/nodejs
AST pattern matching — no compilation needed
Finds: CSRF disabled, actuator exposed, wildcard CORS
Faster than CodeQL, different coverage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3776472"/>
            <a:ext cx="3749039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34256" y="380390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5496"/>
                </a:solidFill>
              </a:rPr>
              <a:t>Runs on: Feature + develop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1188720"/>
            <a:ext cx="3749039" cy="43891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1896" y="12527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 SCA  ·  OWASP Dep Check
+ npm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0456" y="162763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0183" y="1700784"/>
            <a:ext cx="35478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Maven plugin / npm audit
Scans pom.xml &amp; package.json vs NIST NVD
Fail build on CVSS ≥ 7.0  (HIGH+)
NVD cache keyed on pom.xml hash
npm audit: fail on HIGH/CRITICAL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0456" y="3776472"/>
            <a:ext cx="3749039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0183" y="380390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5496"/>
                </a:solidFill>
              </a:rPr>
              <a:t>Runs on: Feature + develop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840480"/>
            <a:ext cx="3749039" cy="43891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39044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  Container
Scan  ·  Trivy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27939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8328" y="4352544"/>
            <a:ext cx="35478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aquasecurity/trivy-action
Scans the built Docker image
OS packages (Alpine/Debian) + runtime libs
Fail on HIGH/CRITICAL with fix available
ignore-unfixed: true — blocks only actionable CVEs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6428232"/>
            <a:ext cx="3749039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8328" y="645566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5496"/>
                </a:solidFill>
              </a:rPr>
              <a:t>Runs on: develop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24528" y="3840480"/>
            <a:ext cx="3749039" cy="438912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15968" y="39044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  Supply
Chain  ·  Cosign
(keyless)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24528" y="427939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34256" y="4352544"/>
            <a:ext cx="35478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sigstore/cosign-installer
GitHub OIDC → Fulcio CA → short-lived cert
Signs image digest (not tag — immutable)
Signature stored in Rekor transparency log
Kyverno rejects unsigned pods at admission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6428232"/>
            <a:ext cx="3749039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34256" y="645566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5496"/>
                </a:solidFill>
              </a:rPr>
              <a:t>Runs on: develop only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0456" y="3840480"/>
            <a:ext cx="3749039" cy="43891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11896" y="39044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  Secrets
&amp; DAST  ·  GitHub
Secret Scan
+ ZAP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0456" y="427939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30183" y="4352544"/>
            <a:ext cx="35478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GitHub secret scanning: platform-level, always on
Scans all commits &amp; PRs for leaked credentials
OWASP ZAP: configured but disabled (if: false)
Enable per-service by setting DEV_&lt;SVC&gt;_URL
Runs after deploy-dev when enabled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0456" y="6428232"/>
            <a:ext cx="3749039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30183" y="645566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5496"/>
                </a:solidFill>
              </a:rPr>
              <a:t>Runs on: Platform + optional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DevSecOps Stages — SAST &amp; SCA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CCF5"/>
                </a:solidFill>
              </a:rPr>
              <a:t>Static Application Security Testing  ·  Software Composition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" y="1115568"/>
            <a:ext cx="2852928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4592" y="1115568"/>
            <a:ext cx="2852928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4" y="116128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444752"/>
            <a:ext cx="2852928" cy="51206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" y="1481328"/>
            <a:ext cx="2715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CodeQL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956816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7744" y="198424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WHAT IT 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2157984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2157984"/>
            <a:ext cx="54864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2194560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495E"/>
                </a:solidFill>
              </a:rPr>
              <a:t>GitHub's semantic code analysis engine.
Builds a full call graph and data-flow model of the compiled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3118104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7744" y="314553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WHAT IT CHECKS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3319272"/>
            <a:ext cx="2852928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64592" y="3319272"/>
            <a:ext cx="54864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" y="3355848"/>
            <a:ext cx="2670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• SQL injection spanning multiple service layers
• Path traversal assembled across method calls
• XSS sinks reached via indirect call chains
• Insecure deserialization patterns
Query suite: security-extended (high-confidence rules)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4736592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7744" y="4764024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FAIL CONDITION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4937759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64592" y="4937759"/>
            <a:ext cx="54864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" y="4974336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74C3C"/>
                </a:solidFill>
              </a:rPr>
              <a:t>Any finding from security-extended query suite
→ workflow exits non-zero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5897879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7744" y="5925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6099047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64592" y="6099047"/>
            <a:ext cx="54864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2608" y="6135623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5496"/>
                </a:solidFill>
              </a:rPr>
              <a:t>SARIF file uploaded to GitHub Security tab
(Code Scanning alerts, filterable by severity)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" y="6089904"/>
            <a:ext cx="2852928" cy="42062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6032" y="6144768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Runs on:  Feature branches  +  develop / release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27248" y="1115568"/>
            <a:ext cx="2852928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127248" y="1115568"/>
            <a:ext cx="2852928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0" y="116128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SAST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27248" y="1444752"/>
            <a:ext cx="2852928" cy="51206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18688" y="1481328"/>
            <a:ext cx="2715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Semgrep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1956816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0" y="198424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WHAT IT 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27248" y="2157984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127248" y="2157984"/>
            <a:ext cx="54864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55264" y="2194560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495E"/>
                </a:solidFill>
              </a:rPr>
              <a:t>AST-level pattern matcher — no compilation needed.
Fast, framework-aware, runs in seconds.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3118104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0" y="314553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WHAT IT CHECKS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27248" y="3319272"/>
            <a:ext cx="2852928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127248" y="3319272"/>
            <a:ext cx="54864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55264" y="3355848"/>
            <a:ext cx="2670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• Spring Boot CSRF protection disabled
• Actuator endpoints exposed without auth
• Missing @PreAuthorize on controller methods
• Hardcoded secrets / wildcard CORS
Rule sets: p/spring-boot · p/java · p/owasp-top-ten
            p/nodejs · p/javascript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27248" y="4736592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00400" y="4764024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FAIL CONDITION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27248" y="4937759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127248" y="4937759"/>
            <a:ext cx="54864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55264" y="4974336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74C3C"/>
                </a:solidFill>
              </a:rPr>
              <a:t>Any rule match → workflow exits non-zero
(Optional: SEMGREP_APP_TOKEN for cloud dashboard)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27248" y="5897879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00400" y="5925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OUTPUT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27248" y="6099047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127248" y="6099047"/>
            <a:ext cx="54864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255264" y="6135623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5496"/>
                </a:solidFill>
              </a:rPr>
              <a:t>Build log output
+ Semgrep Cloud dashboard (if token set)
No SARIF upload (pattern-based, not semantic)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27248" y="6089904"/>
            <a:ext cx="2852928" cy="42062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18688" y="6144768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Runs on:  Feature branches  +  develop / release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9904" y="1115568"/>
            <a:ext cx="2852928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089904" y="1115568"/>
            <a:ext cx="2852928" cy="329184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63056" y="116128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SCA — Java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89904" y="1444752"/>
            <a:ext cx="2852928" cy="51206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181344" y="1481328"/>
            <a:ext cx="2715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5400"/>
                </a:solidFill>
              </a:rPr>
              <a:t>OWASP
Dependency Check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89904" y="1956816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163056" y="198424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WHAT IT IS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89904" y="2157984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089904" y="2157984"/>
            <a:ext cx="54864" cy="9601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17920" y="2194560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495E"/>
                </a:solidFill>
              </a:rPr>
              <a:t>Maven plugin that cross-references every declared
dependency against the NIST NVD CVE database.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89904" y="3118104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163056" y="314553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WHAT IT CHECKS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89904" y="3319272"/>
            <a:ext cx="2852928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089904" y="3319272"/>
            <a:ext cx="54864" cy="14173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217920" y="3355848"/>
            <a:ext cx="2670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• All entries in pom.xml vs NIST NVD
• Transitive dependencies included
• Known CVEs: Log4Shell, Spring4Shell, etc.
• CVSS score fetched for each finding
NVD cache keyed on pom.xml hash (~200 MB DB)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89904" y="4736592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163056" y="4764024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FAIL CONDITION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89904" y="4937759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089904" y="4937759"/>
            <a:ext cx="54864" cy="9601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17920" y="4974336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74C3C"/>
                </a:solidFill>
              </a:rPr>
              <a:t>CVSS score ≥ 7.0 (HIGH or CRITICAL)
→ Maven exits non-zero
Note: continue-on-error: true in pipeline
→ build proceeds; review HTML artifact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89904" y="5897879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163056" y="5925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OUTPUT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89904" y="6099047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089904" y="6099047"/>
            <a:ext cx="54864" cy="9601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217920" y="6135623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5496"/>
                </a:solidFill>
              </a:rPr>
              <a:t>HTML report uploaded as artifact
(14 days on full build, 3 days on PR check)
Includes CVE IDs, CVSS scores, fixed versions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89904" y="6089904"/>
            <a:ext cx="2852928" cy="420624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181344" y="6144768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Runs on:  Feature branches  +  develop / release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52560" y="1115568"/>
            <a:ext cx="2852928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052560" y="1115568"/>
            <a:ext cx="2852928" cy="329184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125712" y="116128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SCA — Node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052560" y="1444752"/>
            <a:ext cx="2852928" cy="51206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144000" y="1481328"/>
            <a:ext cx="2715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5400"/>
                </a:solidFill>
              </a:rPr>
              <a:t>npm audit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52560" y="1956816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125712" y="198424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WHAT IT IS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052560" y="2157984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9052560" y="2157984"/>
            <a:ext cx="54864" cy="9601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180576" y="2194560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495E"/>
                </a:solidFill>
              </a:rPr>
              <a:t>Built-in Node.js command that checks package-lock.json
against the npm advisory database.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52560" y="3118104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125712" y="314553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WHAT IT CHECKS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52560" y="3319272"/>
            <a:ext cx="2852928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9052560" y="3319272"/>
            <a:ext cx="54864" cy="14173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180576" y="3355848"/>
            <a:ext cx="2670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• All packages in package.json &amp; package-lock.json
• Known vulnerabilities in npm advisory DB
• Prototype pollution, ReDoS, RCE in dependencies
• Direct and transitive packages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052560" y="4736592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125712" y="4764024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FAIL CONDITION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052560" y="4937759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9052560" y="4937759"/>
            <a:ext cx="54864" cy="9601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180576" y="4974336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74C3C"/>
                </a:solidFill>
              </a:rPr>
              <a:t>Any HIGH or CRITICAL advisory found
→ npm audit exits non-zero
→ workflow fails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52560" y="5897879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25712" y="5925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OUTPUT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052560" y="6099047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9052560" y="6099047"/>
            <a:ext cx="54864" cy="9601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180576" y="6135623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5496"/>
                </a:solidFill>
              </a:rPr>
              <a:t>JSON + human-readable output in build log
Lists: package name, severity, CVE ID,
recommended fix version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52560" y="6089904"/>
            <a:ext cx="2852928" cy="420624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9144000" y="6144768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Runs on:  Feature branches  +  develop / release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64592" y="6556248"/>
            <a:ext cx="1184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C757D"/>
                </a:solidFill>
              </a:rPr>
              <a:t>CodeQL + Semgrep cover complementary surfaces — CodeQL finds complex multi-layer data-flow bugs; Semgrep finds framework-specific misconfigurations.  OWASP + npm audit scan declared dependencies vs the NVD.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5120640" cy="1097280"/>
          </a:xfrm>
          <a:prstGeom prst="rect">
            <a:avLst/>
          </a:prstGeom>
          <a:solidFill>
            <a:srgbClr val="11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9144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7 microservices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all share the same security pipeline via reusable GitHub Actions workflows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120640" cy="1097280"/>
          </a:xfrm>
          <a:prstGeom prst="rect">
            <a:avLst/>
          </a:prstGeom>
          <a:solidFill>
            <a:srgbClr val="11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91440" cy="1097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96"/>
                </a:solidFill>
              </a:rPr>
              <a:t>3-tier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Feature → develop (full build+ECR) → PROD promotion (manual gate)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5120640" cy="1097280"/>
          </a:xfrm>
          <a:prstGeom prst="rect">
            <a:avLst/>
          </a:prstGeom>
          <a:solidFill>
            <a:srgbClr val="11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2587752"/>
            <a:ext cx="9144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67919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6 security stages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90672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CodeQL · Semgrep · OWASP · Trivy · Cosign · GitHub Secret Scanning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587752"/>
            <a:ext cx="5120640" cy="1097280"/>
          </a:xfrm>
          <a:prstGeom prst="rect">
            <a:avLst/>
          </a:prstGeom>
          <a:solidFill>
            <a:srgbClr val="11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587752"/>
            <a:ext cx="91440" cy="109728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67919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496"/>
                </a:solidFill>
              </a:rPr>
              <a:t>GitOps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90672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Deployment = git commit in zen-gitops. ArgoCD reconciles. Full audit trail.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849624"/>
            <a:ext cx="5120640" cy="1097280"/>
          </a:xfrm>
          <a:prstGeom prst="rect">
            <a:avLst/>
          </a:prstGeom>
          <a:solidFill>
            <a:srgbClr val="11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3849624"/>
            <a:ext cx="91440" cy="1097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941063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Environment gates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52544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DEV auto · QA PR-review · PROD double-gate (Required Reviewers + PR)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849624"/>
            <a:ext cx="5120640" cy="1097280"/>
          </a:xfrm>
          <a:prstGeom prst="rect">
            <a:avLst/>
          </a:prstGeom>
          <a:solidFill>
            <a:srgbClr val="11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3849624"/>
            <a:ext cx="91440" cy="1097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941063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96"/>
                </a:solidFill>
              </a:rPr>
              <a:t>Rollback: ~7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352544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GitHub Revert button on PROD PR → ArgoCD syncs previous image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111496"/>
            <a:ext cx="5120640" cy="1097280"/>
          </a:xfrm>
          <a:prstGeom prst="rect">
            <a:avLst/>
          </a:prstGeom>
          <a:solidFill>
            <a:srgbClr val="11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5111496"/>
            <a:ext cx="9144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20293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Bugfix: ~60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614416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bugfix/ branch → develop → CI → QA → promote-prod → PROD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111496"/>
            <a:ext cx="5120640" cy="1097280"/>
          </a:xfrm>
          <a:prstGeom prst="rect">
            <a:avLst/>
          </a:prstGeom>
          <a:solidFill>
            <a:srgbClr val="11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5111496"/>
            <a:ext cx="91440" cy="109728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520293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496"/>
                </a:solidFill>
              </a:rPr>
              <a:t>Frontend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614416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zen-pharma-frontend follows same GitOps pattern (pharma-ui ECR → zen-gitops)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0080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96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Build Once, Deploy 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The same image bytes flow through every environment — no rebuilds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0" y="1280160"/>
            <a:ext cx="5212080" cy="91440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Docker Image:  sha-abc1234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7556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DCCF5"/>
                </a:solidFill>
              </a:rPr>
              <a:t>Built once, pushed to ECR, signed by Cosign — immutable digest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356616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01568"/>
            <a:ext cx="3566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493008"/>
            <a:ext cx="33375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envs/dev/values-*.yaml
image.tag: sha-abc1234
Auto-committed by CI
ArgoCD auto-syncs ~3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2926080"/>
            <a:ext cx="3566160" cy="4754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301752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QA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3401568"/>
            <a:ext cx="3566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07408" y="3493008"/>
            <a:ext cx="33375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envs/qa/values-*.yaml
image.tag: sha-abc1234
Updated via PR in zen-gitops
ArgoCD auto-syncs on merge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65592" y="2926080"/>
            <a:ext cx="3566160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301752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5592" y="3401568"/>
            <a:ext cx="3566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3493008"/>
            <a:ext cx="33375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envs/prod/values-*.yaml
image.tag: sha-abc1234
Updated via PR in zen-gitops
Engineer syncs manually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2128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↙ auto-commit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2128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↓ PR merge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2128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↘ PR merge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120640"/>
            <a:ext cx="1161288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5166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496"/>
                </a:solidFill>
              </a:rPr>
              <a:t>What changes per promotion:  one line in one YAML file (image.tag)   |   What never changes:  the image digest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15000"/>
            <a:ext cx="3749039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5715000"/>
            <a:ext cx="73152" cy="868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" y="5751576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496"/>
                </a:solidFill>
              </a:rPr>
              <a:t>No rebuild per environment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6053328"/>
            <a:ext cx="34930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What QA tested is byte-for-byte identical to what runs in PROD.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59" y="5715000"/>
            <a:ext cx="3749039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51959" y="5715000"/>
            <a:ext cx="73152" cy="868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16551" y="5751576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496"/>
                </a:solidFill>
              </a:rPr>
              <a:t>sha-&lt;7chars&gt; tag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6551" y="6053328"/>
            <a:ext cx="34930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Immutable, auto-derived from git SHA. No :latest, no manual version bumps.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5715000"/>
            <a:ext cx="3749039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29600" y="5715000"/>
            <a:ext cx="73152" cy="868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94192" y="5751576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496"/>
                </a:solidFill>
              </a:rPr>
              <a:t>ECR: one push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6053328"/>
            <a:ext cx="34930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All environment promotions reference the same ECR image digest.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DevSecOps Stages — Container, Supply Chain &amp;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CCF5"/>
                </a:solidFill>
              </a:rPr>
              <a:t>Image Scanning  ·  Signing  ·  Secret Detection  ·  DAST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" y="1115568"/>
            <a:ext cx="2852928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4592" y="1115568"/>
            <a:ext cx="2852928" cy="329184"/>
          </a:xfrm>
          <a:prstGeom prst="rect">
            <a:avLst/>
          </a:prstGeom>
          <a:solidFill>
            <a:srgbClr val="15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4" y="116128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CONTAINER SCAN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444752"/>
            <a:ext cx="2852928" cy="51206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" y="1481328"/>
            <a:ext cx="2715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78C2"/>
                </a:solidFill>
              </a:rPr>
              <a:t>Trivy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956816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7744" y="198424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WHAT IT 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2157984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2157984"/>
            <a:ext cx="54864" cy="960120"/>
          </a:xfrm>
          <a:prstGeom prst="rect">
            <a:avLst/>
          </a:prstGeom>
          <a:solidFill>
            <a:srgbClr val="15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2194560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495E"/>
                </a:solidFill>
              </a:rPr>
              <a:t>Aqua Security's open-source scanner.
Scans the built Docker image filesystem layer-by-layer.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3118104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7744" y="314553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WHAT IT CHECKS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3319272"/>
            <a:ext cx="2852928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64592" y="3319272"/>
            <a:ext cx="54864" cy="1417320"/>
          </a:xfrm>
          <a:prstGeom prst="rect">
            <a:avLst/>
          </a:prstGeom>
          <a:solidFill>
            <a:srgbClr val="15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" y="3355848"/>
            <a:ext cx="2670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• OS packages: Alpine/Debian apk &amp; apt
• JRE / Node.js runtime bundled in image
• Native libs (libssl, glibc, zlib…)
• Language packages (jar, node_modules)
Catches what OWASP misses: OS-level CVEs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4736592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7744" y="4764024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FAIL CONDITION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4937759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64592" y="4937759"/>
            <a:ext cx="54864" cy="960120"/>
          </a:xfrm>
          <a:prstGeom prst="rect">
            <a:avLst/>
          </a:prstGeom>
          <a:solidFill>
            <a:srgbClr val="15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" y="4974336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74C3C"/>
                </a:solidFill>
              </a:rPr>
              <a:t>Any HIGH or CRITICAL CVE with a fix available
→ workflow exits non-zero
ignore-unfixed: true — unfixed CVEs reported
but do NOT block the build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5897879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7744" y="5925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6099047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64592" y="6099047"/>
            <a:ext cx="54864" cy="960120"/>
          </a:xfrm>
          <a:prstGeom prst="rect">
            <a:avLst/>
          </a:prstGeom>
          <a:solidFill>
            <a:srgbClr val="15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2608" y="6135623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5496"/>
                </a:solidFill>
              </a:rPr>
              <a:t>SARIF uploaded to GitHub Security tab
Category tag: trivy-&lt;service-name&gt;
Aggregated across all services in one dashboard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" y="6089904"/>
            <a:ext cx="2852928" cy="420624"/>
          </a:xfrm>
          <a:prstGeom prst="rect">
            <a:avLst/>
          </a:prstGeom>
          <a:solidFill>
            <a:srgbClr val="15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6032" y="6144768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Runs on:  develop / release only  (after Docker build)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27248" y="1115568"/>
            <a:ext cx="2852928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127248" y="1115568"/>
            <a:ext cx="2852928" cy="329184"/>
          </a:xfrm>
          <a:prstGeom prst="rect">
            <a:avLst/>
          </a:prstGeom>
          <a:solidFill>
            <a:srgbClr val="6C3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0" y="116128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SUPPLY CHAIN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27248" y="1444752"/>
            <a:ext cx="2852928" cy="51206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18688" y="1481328"/>
            <a:ext cx="2715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3FB0"/>
                </a:solidFill>
              </a:rPr>
              <a:t>Cosign
(Keyless)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1956816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0" y="198424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WHAT IT 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27248" y="2157984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127248" y="2157984"/>
            <a:ext cx="54864" cy="960120"/>
          </a:xfrm>
          <a:prstGeom prst="rect">
            <a:avLst/>
          </a:prstGeom>
          <a:solidFill>
            <a:srgbClr val="6C3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55264" y="2194560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495E"/>
                </a:solidFill>
              </a:rPr>
              <a:t>Sigstore project — keyless image signing via GitHub OIDC.
No private key to store, rotate, or leak.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3118104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0" y="314553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WHAT IT CHECKS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27248" y="3319272"/>
            <a:ext cx="2852928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127248" y="3319272"/>
            <a:ext cx="54864" cy="1417320"/>
          </a:xfrm>
          <a:prstGeom prst="rect">
            <a:avLst/>
          </a:prstGeom>
          <a:solidFill>
            <a:srgbClr val="6C3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55264" y="3355848"/>
            <a:ext cx="2670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• Signs the image SHA256 digest (immutable)
• Identity: GitHub OIDC claim for this repo
• Fulcio CA issues a short-lived signing cert
• Signature + cert anchored in Rekor
  transparency log (public, append-only)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27248" y="4736592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00400" y="4764024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FAIL CONDITION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27248" y="4937759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127248" y="4937759"/>
            <a:ext cx="54864" cy="960120"/>
          </a:xfrm>
          <a:prstGeom prst="rect">
            <a:avLst/>
          </a:prstGeom>
          <a:solidFill>
            <a:srgbClr val="6C3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55264" y="4974336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74C3C"/>
                </a:solidFill>
              </a:rPr>
              <a:t>cosign sign command failure
→ workflow exits non-zero
Kyverno policy in EKS rejects any pod
whose image has no valid signature in Rekor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27248" y="5897879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00400" y="5925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OUTPUT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27248" y="6099047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127248" y="6099047"/>
            <a:ext cx="54864" cy="960120"/>
          </a:xfrm>
          <a:prstGeom prst="rect">
            <a:avLst/>
          </a:prstGeom>
          <a:solidFill>
            <a:srgbClr val="6C3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255264" y="6135623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5496"/>
                </a:solidFill>
              </a:rPr>
              <a:t>Signature stored in Rekor public log
Verifiable by anyone:
  cosign verify &lt;image&gt; \
    --certificate-identity-regexp ...
    --certificate-oidc-issuer ...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27248" y="6089904"/>
            <a:ext cx="2852928" cy="420624"/>
          </a:xfrm>
          <a:prstGeom prst="rect">
            <a:avLst/>
          </a:prstGeom>
          <a:solidFill>
            <a:srgbClr val="6C3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18688" y="6144768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Runs on:  develop / release only  (after ECR push)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9904" y="1115568"/>
            <a:ext cx="2852928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089904" y="1115568"/>
            <a:ext cx="2852928" cy="32918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63056" y="116128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SECRETS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89904" y="1444752"/>
            <a:ext cx="2852928" cy="51206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181344" y="1481328"/>
            <a:ext cx="2715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GitHub
Secret Scanning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89904" y="1956816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163056" y="198424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WHAT IT IS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89904" y="2157984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089904" y="2157984"/>
            <a:ext cx="54864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17920" y="2194560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495E"/>
                </a:solidFill>
              </a:rPr>
              <a:t>Platform-level scanning — runs on GitHub's
infrastructure, not on a CI runner.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89904" y="3118104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163056" y="314553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WHAT IT CHECKS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89904" y="3319272"/>
            <a:ext cx="2852928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089904" y="3319272"/>
            <a:ext cx="54864" cy="1417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217920" y="3355848"/>
            <a:ext cx="2670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• All commits and PR diffs scanned
• AWS keys, GitHub tokens, JWT secrets
• 200+ supported secret patterns
• Custom patterns configurable
Enabled under: Repo → Settings →
Code security → Secret scanning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89904" y="4736592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163056" y="4764024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FAIL CONDITION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89904" y="4937759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089904" y="4937759"/>
            <a:ext cx="54864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17920" y="4974336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74C3C"/>
                </a:solidFill>
              </a:rPr>
              <a:t>GitHub blocks the push (push protection)
or alerts repo admins via Security tab
(configurable — alert vs block)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89904" y="5897879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163056" y="5925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OUTPUT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89904" y="6099047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089904" y="6099047"/>
            <a:ext cx="54864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217920" y="6135623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5496"/>
                </a:solidFill>
              </a:rPr>
              <a:t>GitHub Security tab → Secret scanning alerts
Email notification to repo admins
Optional: Slack webhook integration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89904" y="6089904"/>
            <a:ext cx="2852928" cy="4206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181344" y="6144768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Runs on:  All branches, all commits — always on
(platform-level, no runner time used)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52560" y="1115568"/>
            <a:ext cx="2852928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052560" y="1115568"/>
            <a:ext cx="2852928" cy="32918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125712" y="116128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DAST  ⚠ DISABLED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052560" y="1444752"/>
            <a:ext cx="2852928" cy="51206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144000" y="1481328"/>
            <a:ext cx="2715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</a:rPr>
              <a:t>OWASP ZAP
(Baseline Scan)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52560" y="1956816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125712" y="198424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WHAT IT IS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052560" y="2157984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9052560" y="2157984"/>
            <a:ext cx="54864" cy="9601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180576" y="2194560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495E"/>
                </a:solidFill>
              </a:rPr>
              <a:t>Dynamic Application Security Testing.
Scans a running deployment — finds runtime issues
that static tools cannot detect.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52560" y="3118104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125712" y="314553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WHAT IT CHECKS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52560" y="3319272"/>
            <a:ext cx="2852928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9052560" y="3319272"/>
            <a:ext cx="54864" cy="14173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180576" y="3355848"/>
            <a:ext cx="2670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• Exposed sensitive endpoints
• Missing security headers (CSP, HSTS…)
• Open redirects, clickjacking vectors
• Basic injection entry points
Uses: zaproxy/action-baseline@v0.12.0
Target: DEV_&lt;SERVICE&gt;_URL env variable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052560" y="4736592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125712" y="4764024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FAIL CONDITION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052560" y="4937759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9052560" y="4937759"/>
            <a:ext cx="54864" cy="9601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180576" y="4974336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74C3C"/>
                </a:solidFill>
              </a:rPr>
              <a:t>Currently:  if: false  (disabled in all ci-*.yml)
To enable:
1. Set DEV_&lt;SERVICE&gt;_URL in repo variables
2. Remove if: false from dast job
3. Tune .zap/rules.tsv after first run
fail_action: warn  (reports, doesn't block)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52560" y="5897879"/>
            <a:ext cx="2852928" cy="2011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25712" y="5925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757D"/>
                </a:solidFill>
              </a:rPr>
              <a:t>OUTPUT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052560" y="6099047"/>
            <a:ext cx="285292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9052560" y="6099047"/>
            <a:ext cx="54864" cy="9601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180576" y="6135623"/>
            <a:ext cx="26700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5496"/>
                </a:solidFill>
              </a:rPr>
              <a:t>ZAP HTML report uploaded as artifact
Findings categorised by risk level
(Informational / Low / Medium / High)
No SARIF — manual review required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52560" y="6089904"/>
            <a:ext cx="2852928" cy="42062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9144000" y="6144768"/>
            <a:ext cx="2715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Runs on:  develop / release  — runs AFTER deploy-dev
(requires DEV environment URL access)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64592" y="6556248"/>
            <a:ext cx="1184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C757D"/>
                </a:solidFill>
              </a:rPr>
              <a:t>Trivy catches OS-level CVEs invisible to OWASP.  Cosign + Kyverno ensures only CI-built images run in EKS — even if ECR is compromised.  ZAP is ready to enable per-service once DEV URLs are reachable from GitHub runners.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GitOps with ArgoCD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Deployment is a git commit — auditable, reversible, declarative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A5496"/>
                </a:solidFill>
              </a:rPr>
              <a:t>◆  What is GitOps?</a:t>
            </a:r>
          </a:p>
          <a:p>
            <a:pPr algn="l"/>
            <a:r>
              <a:rPr sz="1200" b="0" i="0">
                <a:solidFill>
                  <a:srgbClr val="1C2B3A"/>
                </a:solidFill>
              </a:rPr>
              <a:t>Kubernetes state is declared in the zen-gitops repo, not driven by kubectl commands in CI. ArgoCD watches the repo and reconciles the cluster toward declared state.</a:t>
            </a:r>
          </a:p>
          <a:p>
            <a:pPr algn="l"/>
            <a:endParaRPr sz="1200" b="0" i="0">
              <a:solidFill>
                <a:srgbClr val="1C2B3A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A5496"/>
                </a:solidFill>
              </a:rPr>
              <a:t>◆  Two Repos, Clean Separation</a:t>
            </a:r>
          </a:p>
          <a:p>
            <a:pPr algn="l"/>
            <a:r>
              <a:rPr sz="1200" b="0" i="0">
                <a:solidFill>
                  <a:srgbClr val="1C2B3A"/>
                </a:solidFill>
              </a:rPr>
              <a:t>zen-pharma-backend → application source code
zen-gitops → deployment configuration
CI writes to zen-gitops. It never touches Kubernetes directly.</a:t>
            </a:r>
          </a:p>
          <a:p>
            <a:pPr algn="l"/>
            <a:endParaRPr sz="1200" b="0" i="0">
              <a:solidFill>
                <a:srgbClr val="1C2B3A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A5496"/>
                </a:solidFill>
              </a:rPr>
              <a:t>◆  ArgoCD Sync Modes</a:t>
            </a:r>
          </a:p>
          <a:p>
            <a:pPr algn="l"/>
            <a:r>
              <a:rPr sz="1200" b="0" i="0">
                <a:solidFill>
                  <a:srgbClr val="1C2B3A"/>
                </a:solidFill>
              </a:rPr>
              <a:t>DEV: auto-sync (ArgoCD polls every ~3 min)
QA: auto-sync on PR merge
PROD: manual sync — engineer clicks Sync at maintenance window</a:t>
            </a:r>
          </a:p>
          <a:p>
            <a:pPr algn="l"/>
            <a:endParaRPr sz="1200" b="0" i="0">
              <a:solidFill>
                <a:srgbClr val="1C2B3A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A5496"/>
                </a:solidFill>
              </a:rPr>
              <a:t>◆  Every deployment is a git commit</a:t>
            </a:r>
          </a:p>
          <a:p>
            <a:pPr algn="l"/>
            <a:r>
              <a:rPr sz="1200" b="0" i="0">
                <a:solidFill>
                  <a:srgbClr val="1C2B3A"/>
                </a:solidFill>
              </a:rPr>
              <a:t>History · author · timestamp · diff visible in GitHub.
Rollback = git revert. No runbooks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143000"/>
            <a:ext cx="6035040" cy="41148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zen-gitops repo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627632"/>
            <a:ext cx="603504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97880" y="1700784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5496"/>
                </a:solidFill>
              </a:rPr>
              <a:t>zen-gitops/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2121408"/>
            <a:ext cx="6035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7880" y="21945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A896"/>
                </a:solidFill>
              </a:rPr>
              <a:t>  argocd/apps/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2615184"/>
            <a:ext cx="603504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2688336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7AE60"/>
                </a:solidFill>
              </a:rPr>
              <a:t>    dev/          ← one app per service (auto-sync)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3108960"/>
            <a:ext cx="6035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97880" y="318211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39C12"/>
                </a:solidFill>
              </a:rPr>
              <a:t>    qa/pharma-qa-app.yaml        ← single app (auto-sync)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3602736"/>
            <a:ext cx="603504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97880" y="367588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4C3C"/>
                </a:solidFill>
              </a:rPr>
              <a:t>    prod/pharma-prod-app.yaml    ← single app (manual sync)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4096512"/>
            <a:ext cx="6035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97880" y="4169664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A896"/>
                </a:solidFill>
              </a:rPr>
              <a:t>  envs/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4590288"/>
            <a:ext cx="603504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97880" y="46634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7AE60"/>
                </a:solidFill>
              </a:rPr>
              <a:t>    dev/   values-*.yaml  ×7    ← CI auto-commits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5084064"/>
            <a:ext cx="6035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97880" y="5157216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39C12"/>
                </a:solidFill>
              </a:rPr>
              <a:t>    qa/    values-*.yaml  ×3    ← QA PR merge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5577840"/>
            <a:ext cx="603504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97880" y="565099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4C3C"/>
                </a:solidFill>
              </a:rPr>
              <a:t>    prod/  values-*.yaml  ×3    ← PROD PR merge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6126480"/>
            <a:ext cx="603504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97880" y="6172200"/>
            <a:ext cx="5897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5496"/>
                </a:solidFill>
              </a:rPr>
              <a:t>Values file patch by CI:   image.tag: sha-abc1234   (yq — YAML-aware, idempotent)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Environment Promotion: DEV → QA → PROD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Human gates proportional to risk — auto where safe, manual where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3749039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612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361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Fully Automatic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920240"/>
            <a:ext cx="3749039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84248"/>
            <a:ext cx="352044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CI commits updated image tag directly to
envs/dev/values-*.yaml in zen-gitops.
ArgoCD polls and syncs within ~3 minutes.
No human intervention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749039"/>
            <a:ext cx="3749039" cy="10241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8600" y="3749039"/>
            <a:ext cx="73152" cy="10241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" y="3794760"/>
            <a:ext cx="34930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Gate: None
Sync: ArgoCD auto-sync
Rollback: git revert in zen-gitops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773168"/>
            <a:ext cx="3749039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4818888"/>
            <a:ext cx="3520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DEV is a fast feedback environment.
Developers expect changes live in minutes.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1143000"/>
            <a:ext cx="3749039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15968" y="11612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5361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PR Review Gate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1920240"/>
            <a:ext cx="3749039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61688" y="1984248"/>
            <a:ext cx="352044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CI opens a PR in zen-gitops:
  branch: promote/qa/&lt;service&gt;/&lt;tag&gt;
  changes: envs/qa/values-*.yaml
QA team reviews, tests, then merges.
ArgoCD auto-syncs after merge.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4528" y="3749039"/>
            <a:ext cx="3749039" cy="10241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24528" y="3749039"/>
            <a:ext cx="73152" cy="10241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794760"/>
            <a:ext cx="34930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Gate: PR review by QA team
Sync: ArgoCD auto-sync on merge
Rollback: GitHub Revert button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4773168"/>
            <a:ext cx="3749039" cy="6583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61688" y="4818888"/>
            <a:ext cx="3520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QA controls deployment by deciding
when to merge. Audit trail included.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0456" y="1143000"/>
            <a:ext cx="3749039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11896" y="11612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15361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Double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0456" y="1920240"/>
            <a:ext cx="3749039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57616" y="1984248"/>
            <a:ext cx="352044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Release Manager triggers promote-prod.yml
(workflow_dispatch — manual only).
Workflow reads tag from QA values file.
Opens PROD PR → requires approval.
Engineer syncs ArgoCD at maintenance window.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0456" y="3749039"/>
            <a:ext cx="3749039" cy="10241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0456" y="3749039"/>
            <a:ext cx="73152" cy="10241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85048" y="3794760"/>
            <a:ext cx="34930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Gate 1: GitHub env 'prod' (Required Reviewers)
Gate 2: PR approval in zen-gitops
Sync: Manual — engineer clicks Sync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0456" y="4773168"/>
            <a:ext cx="3749039" cy="6583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57616" y="4818888"/>
            <a:ext cx="3520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PROD changes at maintenance windows,
not automatically. Defence in depth.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" y="5577840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promote-prod.yml reads tag from QA values — ensuring what QA tested is exactly what goes to PROD.  No human types the tag.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Frontend CI — zen-pharma-frontend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React (Node.js 20) · Single pipeline for lint → test → build → ECR → GitOps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19456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  Lint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21945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719072"/>
            <a:ext cx="2011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ESLint
npx eslint src/
--max-warnings 0
Fails on any warning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977639"/>
            <a:ext cx="219456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40233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C757D"/>
                </a:solidFill>
              </a:rPr>
              <a:t>All branches
(push + PR)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188720"/>
            <a:ext cx="219456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1234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  Unit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645920"/>
            <a:ext cx="21945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61488" y="1719072"/>
            <a:ext cx="2011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Jest + Coverage
npm test --coverage
Uploads coverage report
as artifact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3977639"/>
            <a:ext cx="219456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61488" y="40233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C757D"/>
                </a:solidFill>
              </a:rPr>
              <a:t>needs: lint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188720"/>
            <a:ext cx="219456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1234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 Build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1645920"/>
            <a:ext cx="21945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38928" y="1719072"/>
            <a:ext cx="2011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npm run build
Production React bundle
Uploads build artifact
(7 days)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3977639"/>
            <a:ext cx="219456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38928" y="40233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C757D"/>
                </a:solidFill>
              </a:rPr>
              <a:t>needs: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1188720"/>
            <a:ext cx="219456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0" y="1234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  Docker + ECR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1645920"/>
            <a:ext cx="21945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16368" y="1719072"/>
            <a:ext cx="2011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AWS OIDC auth
Docker build + push
ECR repo: pharma-ui
Tag: full git SHA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3977639"/>
            <a:ext cx="219456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16368" y="40233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C757D"/>
                </a:solidFill>
              </a:rPr>
              <a:t>needs: build
main/develop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4688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1188720"/>
            <a:ext cx="2194560" cy="45720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75520" y="1234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  Update GitOps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1645920"/>
            <a:ext cx="21945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93808" y="1719072"/>
            <a:ext cx="2011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Checkout zen-gitops
yq patch values-pharma-ui.yaml
image.tag = full SHA
git commit + push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84080" y="3977639"/>
            <a:ext cx="219456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93808" y="40233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C757D"/>
                </a:solidFill>
              </a:rPr>
              <a:t>needs: docker
main/develop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617720"/>
            <a:ext cx="11612880" cy="384048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465429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 vs Backend CI differences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074920"/>
            <a:ext cx="658368" cy="47548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10896" y="5166359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" y="5074920"/>
            <a:ext cx="5029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51560" y="5129783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Single ci.yml file for the whole app
No reusable workflow splitting — simpler service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59" y="5074920"/>
            <a:ext cx="658368" cy="47548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17336" y="5166359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59" y="5074920"/>
            <a:ext cx="5029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57999" y="5129783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Uses full git SHA as image tag (not sha-&lt;7chars&gt;)
No service matrix — one Docker image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678424"/>
            <a:ext cx="658368" cy="475488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10896" y="5769864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" y="5678424"/>
            <a:ext cx="5029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51560" y="573328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7 services × 2 reusable workflows (_java-build / _node-build)
CodeQL · Semgrep · OWASP · Trivy · Cosign security stages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80759" y="5678424"/>
            <a:ext cx="658368" cy="47548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17336" y="5769864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59" y="5678424"/>
            <a:ext cx="5029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57999" y="573328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No SAST / SCA stages in current ci.yml
Consider adding CodeQL + npm audit parity with backend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Post-Deployment: Production Rollback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Target recovery time: ~7 minutes  |  Risk: Very 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840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91440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When to Rollback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C2B3A"/>
                </a:solidFill>
              </a:rPr>
              <a:t>PROD broken, needs immediate recovery</a:t>
            </a:r>
          </a:p>
          <a:p>
            <a:r>
              <a:rPr sz="1150">
                <a:solidFill>
                  <a:srgbClr val="1C2B3A"/>
                </a:solidFill>
              </a:rPr>
              <a:t>Previous version was stable &amp; tested</a:t>
            </a:r>
          </a:p>
          <a:p>
            <a:r>
              <a:rPr sz="1150">
                <a:solidFill>
                  <a:srgbClr val="1C2B3A"/>
                </a:solidFill>
              </a:rPr>
              <a:t>Root cause unknown — buy time</a:t>
            </a:r>
          </a:p>
          <a:p>
            <a:r>
              <a:rPr sz="1150">
                <a:solidFill>
                  <a:srgbClr val="1C2B3A"/>
                </a:solidFill>
              </a:rPr>
              <a:t>Time is critical (SLA breach risk)</a:t>
            </a:r>
          </a:p>
          <a:p>
            <a:endParaRPr sz="1150">
              <a:solidFill>
                <a:srgbClr val="1C2B3A"/>
              </a:solidFill>
            </a:endParaRPr>
          </a:p>
          <a:p>
            <a:r>
              <a:rPr sz="1150">
                <a:solidFill>
                  <a:srgbClr val="1C2B3A"/>
                </a:solidFill>
              </a:rPr>
              <a:t>Examples:</a:t>
            </a:r>
          </a:p>
          <a:p>
            <a:r>
              <a:rPr sz="1150">
                <a:solidFill>
                  <a:srgbClr val="1C2B3A"/>
                </a:solidFill>
              </a:rPr>
              <a:t>• New image causing 500 errors</a:t>
            </a:r>
          </a:p>
          <a:p>
            <a:r>
              <a:rPr sz="1150">
                <a:solidFill>
                  <a:srgbClr val="1C2B3A"/>
                </a:solidFill>
              </a:rPr>
              <a:t>• Memory leak / pod crash loops</a:t>
            </a:r>
          </a:p>
          <a:p>
            <a:r>
              <a:rPr sz="1150">
                <a:solidFill>
                  <a:srgbClr val="1C2B3A"/>
                </a:solidFill>
              </a:rPr>
              <a:t>• Database migration failure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143000"/>
            <a:ext cx="2395728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79" y="121615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  Identify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600200"/>
            <a:ext cx="23957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673352"/>
            <a:ext cx="22128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Open zen-gitops → Pull Requests → Merged
Find the PROD promotion PR that broke things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6459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59" y="1143000"/>
            <a:ext cx="2395728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599" y="121615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  Revert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59" y="1600200"/>
            <a:ext cx="23957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04888" y="1673352"/>
            <a:ext cx="22128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Click GitHub 'Revert' button on merged PR
GitHub auto-creates revert PR with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16459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1143000"/>
            <a:ext cx="2395728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46919" y="121615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 Approve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1600200"/>
            <a:ext cx="23957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65207" y="1673352"/>
            <a:ext cx="22128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Release Manager reviews revert PR
(~30 sec — diff shows old tag restoring)
Merge the revert 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520440"/>
            <a:ext cx="2395728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79" y="359359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  ArgoCD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3977639"/>
            <a:ext cx="23957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44568" y="4050791"/>
            <a:ext cx="22128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ArgoCD polls zen-gitops (~3 min)
Detects changed values file
UI shows: pharma-prod OutOfSync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40233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5159" y="3520440"/>
            <a:ext cx="2395728" cy="45720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86599" y="359359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  Sync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59" y="3977639"/>
            <a:ext cx="23957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04888" y="4050791"/>
            <a:ext cx="22128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Engineer clicks Sync in ArgoCD UI
Kubernetes pulls previous stable image
Pods restart with known-good version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166360"/>
            <a:ext cx="11612880" cy="347472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51937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532120"/>
            <a:ext cx="192024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7472" y="55595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Identify bad PR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58978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~1 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12848" y="5532120"/>
            <a:ext cx="1920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286000" y="55595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Click Revert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58978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~30 sec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51376" y="5532120"/>
            <a:ext cx="192024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24528" y="55595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Review + merge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24528" y="58978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~2 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9904" y="5532120"/>
            <a:ext cx="1920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63056" y="55595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ArgoCD polls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63056" y="58978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~3 min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28432" y="5532120"/>
            <a:ext cx="192024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01584" y="55595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Engineer sync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01584" y="58978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~1 min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66960" y="5532120"/>
            <a:ext cx="192024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040112" y="55595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TOTAL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40112" y="58978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~7–8 min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6888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Post-Deployment: Production Bugfix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Target recovery time: ~40–60 minutes  |  Goes through full QA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91440" cy="2286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When to Bugfix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3154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C2B3A"/>
                </a:solidFill>
              </a:rPr>
              <a:t>Root cause identified &amp; understood</a:t>
            </a:r>
          </a:p>
          <a:p>
            <a:r>
              <a:rPr sz="1150">
                <a:solidFill>
                  <a:srgbClr val="1C2B3A"/>
                </a:solidFill>
              </a:rPr>
              <a:t>Fix is isolated and testable</a:t>
            </a:r>
          </a:p>
          <a:p>
            <a:r>
              <a:rPr sz="1150">
                <a:solidFill>
                  <a:srgbClr val="1C2B3A"/>
                </a:solidFill>
              </a:rPr>
              <a:t>Previous version unacceptable</a:t>
            </a:r>
          </a:p>
          <a:p>
            <a:r>
              <a:rPr sz="1150">
                <a:solidFill>
                  <a:srgbClr val="1C2B3A"/>
                </a:solidFill>
              </a:rPr>
              <a:t>(e.g. has data issue or feature gap)</a:t>
            </a:r>
          </a:p>
          <a:p>
            <a:endParaRPr sz="1150">
              <a:solidFill>
                <a:srgbClr val="1C2B3A"/>
              </a:solidFill>
            </a:endParaRPr>
          </a:p>
          <a:p>
            <a:r>
              <a:rPr sz="1150">
                <a:solidFill>
                  <a:srgbClr val="1C2B3A"/>
                </a:solidFill>
              </a:rPr>
              <a:t>Examples:</a:t>
            </a:r>
          </a:p>
          <a:p>
            <a:r>
              <a:rPr sz="1150">
                <a:solidFill>
                  <a:srgbClr val="1C2B3A"/>
                </a:solidFill>
              </a:rPr>
              <a:t>• Logic bug (wrong ChronoUnit)</a:t>
            </a:r>
          </a:p>
          <a:p>
            <a:r>
              <a:rPr sz="1150">
                <a:solidFill>
                  <a:srgbClr val="1C2B3A"/>
                </a:solidFill>
              </a:rPr>
              <a:t>• Incorrect env var configuration</a:t>
            </a:r>
          </a:p>
          <a:p>
            <a:r>
              <a:rPr sz="1150">
                <a:solidFill>
                  <a:srgbClr val="1C2B3A"/>
                </a:solidFill>
              </a:rPr>
              <a:t>• Database query returning wrong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1143000"/>
            <a:ext cx="1920240" cy="43891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69079" y="120700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  Branch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1581912"/>
            <a:ext cx="19202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69079" y="1645920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git checkout develop &amp;&amp; git pull
git checkout -b bugfix/&lt;service&gt;/&lt;desc&gt;
(always from develop — that's what's in PROD)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16916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143000"/>
            <a:ext cx="1920240" cy="43891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79" y="120700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  Fix + 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581912"/>
            <a:ext cx="19202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79" y="1645920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Edit source, fix the root cause.
mvn verify / npm test — must pass locally.
Minimal fix only — no refactoring.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6916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143000"/>
            <a:ext cx="1920240" cy="43891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120700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  PR → develop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1581912"/>
            <a:ext cx="19202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79" y="1645920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gh pr create --base develop
Code review by peer.
CI check (ci-pr-*.yml) must pass.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16916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1143000"/>
            <a:ext cx="192024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41280" y="120700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  CI triggers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0" y="1581912"/>
            <a:ext cx="19202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41280" y="1645920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Merge to develop fires ci-*.yml:
Build → ECR push (sha-fix5678)
DEV auto-deploys · QA PR opens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77639" y="3611880"/>
            <a:ext cx="192024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69079" y="367588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  QA tests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39" y="4050791"/>
            <a:ext cx="19202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69079" y="4114800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C2B3A"/>
                </a:solidFill>
              </a:rPr>
              <a:t>QA reviews &amp; tests the QA Promotion PR
in </a:t>
            </a:r>
            <a:r>
              <a:rPr sz="1050" b="0" i="0" dirty="0" err="1">
                <a:solidFill>
                  <a:srgbClr val="1C2B3A"/>
                </a:solidFill>
              </a:rPr>
              <a:t>zen-gitops</a:t>
            </a:r>
            <a:r>
              <a:rPr sz="1050" b="0" i="0" dirty="0">
                <a:solidFill>
                  <a:srgbClr val="1C2B3A"/>
                </a:solidFill>
              </a:rPr>
              <a:t>. Merges when satisfied.
</a:t>
            </a:r>
            <a:r>
              <a:rPr sz="1050" b="0" i="0" dirty="0" err="1">
                <a:solidFill>
                  <a:srgbClr val="1C2B3A"/>
                </a:solidFill>
              </a:rPr>
              <a:t>ArgoCD</a:t>
            </a:r>
            <a:r>
              <a:rPr sz="1050" b="0" i="0" dirty="0">
                <a:solidFill>
                  <a:srgbClr val="1C2B3A"/>
                </a:solidFill>
              </a:rPr>
              <a:t> auto-syncs QA.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79" y="41605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611880"/>
            <a:ext cx="1920240" cy="4389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79" y="367588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  PROD promote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050791"/>
            <a:ext cx="19202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79" y="4050792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C2B3A"/>
                </a:solidFill>
              </a:rPr>
              <a:t>Release Manager runs promote-</a:t>
            </a:r>
            <a:r>
              <a:rPr sz="1050" b="0" i="0" dirty="0" err="1">
                <a:solidFill>
                  <a:srgbClr val="1C2B3A"/>
                </a:solidFill>
              </a:rPr>
              <a:t>prod.yml</a:t>
            </a:r>
            <a:r>
              <a:rPr sz="1050" b="0" i="0" dirty="0">
                <a:solidFill>
                  <a:srgbClr val="1C2B3A"/>
                </a:solidFill>
              </a:rPr>
              <a:t>
Reads tag from QA values (no manual tag).
PROD PR created → approvals → merge.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41605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92440" y="3611880"/>
            <a:ext cx="1920240" cy="4389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83879" y="367588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7  ArgoCD sync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2440" y="4050791"/>
            <a:ext cx="19202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83879" y="4114800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C2B3A"/>
                </a:solidFill>
              </a:rPr>
              <a:t>Engineer syncs pharma-prod at
maintenance window.
Pods restart with fixed image 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074920"/>
            <a:ext cx="11612880" cy="347472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51023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Timeline (Standard)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440680"/>
            <a:ext cx="1920240" cy="7498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" y="54681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Local fix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" y="583387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~15 min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12848" y="5440680"/>
            <a:ext cx="1920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286000" y="54681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Branch + PR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583387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~3 min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51376" y="5440680"/>
            <a:ext cx="1920240" cy="7498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24528" y="54681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CI build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24528" y="583387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~10 min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89904" y="5440680"/>
            <a:ext cx="1920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63056" y="54681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QA testing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63056" y="583387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~15 min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28432" y="5440680"/>
            <a:ext cx="1920240" cy="7498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101584" y="54681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PROD promote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01584" y="583387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~8 min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966960" y="5440680"/>
            <a:ext cx="1920240" cy="749808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040112" y="54681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40112" y="583387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~51–60 min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629107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Fast-track: pre-approve while CI builds → ~40 min  |  Skip QA (only if 100% certain): ~20 min (higher risk)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Decision Tree: Rollback vs Bugfix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When PROD breaks — which path to take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31920" y="1188720"/>
            <a:ext cx="4297680" cy="59436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PROD Incident Declared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80136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C757D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212848"/>
            <a:ext cx="4846320" cy="5486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2258568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B3A"/>
                </a:solidFill>
              </a:rPr>
              <a:t>Is the previous version acceptable?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42316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YES 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80360"/>
            <a:ext cx="32004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2880360"/>
            <a:ext cx="9144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926080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</a:rPr>
              <a:t>ROLLBACK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290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GitHub Revert button in zen-gitops
Recovery: ~7 min
Risk: Very Low
No code change needed.
Reverts image tag to previous stable.
Full audit trail preserved.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4231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→ 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212848"/>
            <a:ext cx="3200400" cy="5486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0" y="2258568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2B3A"/>
                </a:solidFill>
              </a:rPr>
              <a:t>Root cause known?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81635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NO → Investigate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60" y="28072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↓ 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3154680"/>
            <a:ext cx="32004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0" y="3154680"/>
            <a:ext cx="91440" cy="3017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15400" y="3200400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</a:rPr>
              <a:t>BUGFIX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70332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A"/>
                </a:solidFill>
              </a:rPr>
              <a:t>bugfix/ branch from develop
Standard: ~60 min
Fast-track: ~40 min
Risk: Low–Moderate
Full pipeline: build → QA → PROD.
Code change tested through QA gate.
Production PR requires approvals.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2880360"/>
            <a:ext cx="5029200" cy="384048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11880" y="291693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Rollback vs Bugfix Comparison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3291840"/>
            <a:ext cx="5029200" cy="47548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1188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Time to 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33832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~7–13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383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~40–60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3794760"/>
            <a:ext cx="5029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1188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Code change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8112" y="38862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886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4297680"/>
            <a:ext cx="5029200" cy="47548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1188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QA 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68112" y="43891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389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Yes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4800600"/>
            <a:ext cx="5029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118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Approvals needed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8112" y="48920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1 (Rel Manager)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892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3+ (Dev+QA+Rel)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5303520"/>
            <a:ext cx="5029200" cy="47548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1188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Risk level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68112" y="53949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Very 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5394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Low–Moderate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40" y="5806440"/>
            <a:ext cx="5029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11880" y="58978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Best for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68112" y="5897879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Unknown issues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589787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Identified bugs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Why each architectural decision was made this 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91440" cy="178308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496"/>
                </a:solidFill>
              </a:rPr>
              <a:t>Build Once, Deploy Many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303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A Docker image is built exactly once, tagged with git SHA, and promoted unchanged through DEV→QA→PROD. What QA tested is byte-for-byte identical to what runs in PROD. No rebuild = no silent differences between environments.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35808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3035808"/>
            <a:ext cx="91440" cy="1783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1272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96"/>
                </a:solidFill>
              </a:rPr>
              <a:t>GitOps — Deployment is a Git Commit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38728"/>
            <a:ext cx="5303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Kubernetes state lives in zen-gitops, not in imperative kubectl commands. Every deployment has an author, timestamp, diff, and is rollback-able by reverting a commit. CI writes to zen-gitops; it never touches Kubernetes directly.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882896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4882896"/>
            <a:ext cx="91440" cy="1783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9743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Separation of Concerns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85816"/>
            <a:ext cx="5303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Application code in zen-pharma-backend. Deployment config in zen-gitops. QA engineers can approve deployments without access to source code. Infra changes don't trigger application rebuilds.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188720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1188720"/>
            <a:ext cx="91440" cy="1783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280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Shift Security Left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691640"/>
            <a:ext cx="5303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Security checks (CodeQL, Semgrep, OWASP) run on every feature branch push — before code review, before merge. Finding a CVE at 5 minutes is 100× cheaper than finding it after it's in PROD.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035808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3035808"/>
            <a:ext cx="91440" cy="1783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1272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Human Gates at the Right Altitude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38728"/>
            <a:ext cx="5303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DEV: fully automatic — fast feedback. QA: PR review — team controls timing. PROD: Required Reviewers + manual ArgoCD sync — intentional, audited, at maintenance window. Gates scale with risk.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882896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4882896"/>
            <a:ext cx="91440" cy="178308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9743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757D"/>
                </a:solidFill>
              </a:rPr>
              <a:t>Supply-Chain Security (Defence in Depth)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385816"/>
            <a:ext cx="5303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ECR access control prevents external pushes. Cosign keyless signing ties each image to a specific GitHub Actions run. Kyverno rejects unsigned images at pod admission. Three independent layers — any one catch is a win.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CD Prerequisites: Standing Up ArgoCD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Three resources, installed top-down, before any service can deploy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A5496"/>
                </a:solidFill>
              </a:rPr>
              <a:t>◆  1. Controller Installation</a:t>
            </a:r>
          </a:p>
          <a:p>
            <a:pPr algn="l"/>
            <a:r>
              <a:rPr sz="1200" b="0" i="0">
                <a:solidFill>
                  <a:srgbClr val="1C2B3A"/>
                </a:solidFill>
              </a:rPr>
              <a:t>The argocd Namespace and core controller are installed once per cluster (Terraform-managed). An Ingress (ssl-passthrough, cert-manager TLS) exposes the UI/API at argocd.pharma.internal. Everything below depends on this existing first.</a:t>
            </a:r>
          </a:p>
          <a:p>
            <a:pPr algn="l"/>
            <a:endParaRPr sz="1200" b="0" i="0">
              <a:solidFill>
                <a:srgbClr val="1C2B3A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A5496"/>
                </a:solidFill>
              </a:rPr>
              <a:t>◆  2. AppProject — the Access Boundary</a:t>
            </a:r>
          </a:p>
          <a:p>
            <a:pPr algn="l"/>
            <a:r>
              <a:rPr sz="1200" b="0" i="0">
                <a:solidFill>
                  <a:srgbClr val="1C2B3A"/>
                </a:solidFill>
              </a:rPr>
              <a:t>A single pharma AppProject scopes what any Application inside it may do: allowed source repos (zen-gitops + Helm chart repos), allowed destination namespaces (dev/qa/prod/argocd/monitoring), and RBAC roles (pharma-admin → pharma-devops-team group).</a:t>
            </a:r>
          </a:p>
          <a:p>
            <a:pPr algn="l"/>
            <a:endParaRPr sz="1200" b="0" i="0">
              <a:solidFill>
                <a:srgbClr val="1C2B3A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A5496"/>
                </a:solidFill>
              </a:rPr>
              <a:t>◆  3. Application — the Deployment Unit</a:t>
            </a:r>
          </a:p>
          <a:p>
            <a:pPr algn="l"/>
            <a:r>
              <a:rPr sz="1200" b="0" i="0">
                <a:solidFill>
                  <a:srgbClr val="1C2B3A"/>
                </a:solidFill>
              </a:rPr>
              <a:t>One Application per service+environment (e.g. auth-service-dev). References project: pharma, a source (repo + path + Helm values file) and a destination (namespace). This is the object ArgoCD actually reconciles.</a:t>
            </a:r>
          </a:p>
          <a:p>
            <a:pPr algn="l"/>
            <a:endParaRPr sz="1200" b="0" i="0">
              <a:solidFill>
                <a:srgbClr val="1C2B3A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A5496"/>
                </a:solidFill>
              </a:rPr>
              <a:t>◆  Why the order matters</a:t>
            </a:r>
          </a:p>
          <a:p>
            <a:pPr algn="l"/>
            <a:r>
              <a:rPr sz="1200" b="0" i="0">
                <a:solidFill>
                  <a:srgbClr val="1C2B3A"/>
                </a:solidFill>
              </a:rPr>
              <a:t>An Application with project: pharma is rejected by the API server if the pharma AppProject doesn't exist yet. Controller → Project → Application is a hard dependency chain, not a convention.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143000"/>
            <a:ext cx="6035040" cy="41148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argocd/ folder — install &amp; projects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627632"/>
            <a:ext cx="603504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97880" y="1700784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5496"/>
                </a:solidFill>
              </a:rPr>
              <a:t>zen-gitops/argocd/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2121408"/>
            <a:ext cx="6035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7880" y="21945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A896"/>
                </a:solidFill>
              </a:rPr>
              <a:t>  install/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2615184"/>
            <a:ext cx="603504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2688336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7AE60"/>
                </a:solidFill>
              </a:rPr>
              <a:t>    argocd-namespace.yaml   ← Namespace: argocd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3108960"/>
            <a:ext cx="6035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97880" y="318211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39C12"/>
                </a:solidFill>
              </a:rPr>
              <a:t>    argocd-ingress.yaml     ← UI/API ingress (TLS)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3602736"/>
            <a:ext cx="603504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97880" y="367588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4C3C"/>
                </a:solidFill>
              </a:rPr>
              <a:t>    (Terraform-managed, once per cluster)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4096512"/>
            <a:ext cx="6035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97880" y="4169664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A896"/>
                </a:solidFill>
              </a:rPr>
              <a:t>  projects/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4590288"/>
            <a:ext cx="603504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97880" y="46634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7AE60"/>
                </a:solidFill>
              </a:rPr>
              <a:t>    pharma-project.yaml     ← AppProject: pharma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5084064"/>
            <a:ext cx="6035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97880" y="5157216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39C12"/>
                </a:solidFill>
              </a:rPr>
              <a:t>    sourceRepos + destinations + roles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5577840"/>
            <a:ext cx="603504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97880" y="565099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4C3C"/>
                </a:solidFill>
              </a:rPr>
              <a:t>    apps/dev|qa|prod/*.yaml reference this by name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6126480"/>
            <a:ext cx="603504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97880" y="6172200"/>
            <a:ext cx="5897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5496"/>
                </a:solidFill>
              </a:rPr>
              <a:t>Install order:   namespace → ingress → AppProject → Applications   (each references the one before it by name)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Helm Charts, Not Raw K8s Manifests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One templated chart replaces per-service YAML — CI only ever changes one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91440" cy="178308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496"/>
                </a:solidFill>
              </a:rPr>
              <a:t>One Chart, Eight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303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helm-charts/ has a single deployment.yaml, service.yaml, ingress.yaml, configmap.yaml, hpa.yaml, serviceaccount.yaml. Raw manifests would mean 8 services × 6 files = 48 YAML files to keep in sync by hand.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35808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3035808"/>
            <a:ext cx="91440" cy="1783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1272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96"/>
                </a:solidFill>
              </a:rPr>
              <a:t>Tiny, Reviewable Values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38728"/>
            <a:ext cx="5303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Each service+environment gets one values-&lt;service&gt;.yaml (~50–80 lines) instead of a full manifest. A PR reviewer sees exactly what changed — usually one line: image.tag.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882896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4882896"/>
            <a:ext cx="91440" cy="1783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9743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Config-Change Auto-Restart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85816"/>
            <a:ext cx="5303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deployment.yaml stamps a checksum/config annotation from configmap.yaml's contents. Any ConfigMap edit changes the checksum, which forces a pod rollout automatically — no separate restart step to forget.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188720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1188720"/>
            <a:ext cx="91440" cy="1783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280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Consistent Naming, Zero Copy-Paste Drift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691640"/>
            <a:ext cx="5303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_helpers.tpl generates fullname, labels, and selectorLabels the same way for every service. Raw manifests rely on humans typing matching label sets across 8 copies — one typo breaks selectors.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035808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3035808"/>
            <a:ext cx="91440" cy="1783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1272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Environment Promotion = Swap One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38728"/>
            <a:ext cx="5303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Promoting DEV → QA → PROD means pointing the same chart at envs/qa/values-auth-service.yaml instead of dev's. The rendered manifests differ only where the values file differs — nothing is retyped.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882896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4882896"/>
            <a:ext cx="91440" cy="178308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9743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757D"/>
                </a:solidFill>
              </a:rPr>
              <a:t>Versioned as a Unit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385816"/>
            <a:ext cx="5303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3A"/>
                </a:solidFill>
              </a:rPr>
              <a:t>Chart.yaml (version: 1.0.0) tracks the template's own evolution independently of any service's application version (appVersion), so template changes and app releases are audited separately.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Values File Flow: CI → ArgoCD →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DEV ~4 min end-to-end  |  QA/PROD gated by review  |  The values file is the only artifact that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840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91440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What Actually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C2B3A"/>
                </a:solidFill>
              </a:rPr>
              <a:t>CI finishes build + security scans</a:t>
            </a:r>
          </a:p>
          <a:p>
            <a:r>
              <a:rPr sz="1150">
                <a:solidFill>
                  <a:srgbClr val="1C2B3A"/>
                </a:solidFill>
              </a:rPr>
              <a:t>Image pushed to ECR, tag = sha-&lt;7chars&gt;</a:t>
            </a:r>
          </a:p>
          <a:p>
            <a:r>
              <a:rPr sz="1150">
                <a:solidFill>
                  <a:srgbClr val="1C2B3A"/>
                </a:solidFill>
              </a:rPr>
              <a:t>yq patches envs/&lt;env&gt;/values-&lt;service&gt;.yaml</a:t>
            </a:r>
          </a:p>
          <a:p>
            <a:r>
              <a:rPr sz="1150">
                <a:solidFill>
                  <a:srgbClr val="1C2B3A"/>
                </a:solidFill>
              </a:rPr>
              <a:t>Commit + push to zen-gitops</a:t>
            </a:r>
          </a:p>
          <a:p>
            <a:endParaRPr sz="1150">
              <a:solidFill>
                <a:srgbClr val="1C2B3A"/>
              </a:solidFill>
            </a:endParaRPr>
          </a:p>
          <a:p>
            <a:r>
              <a:rPr sz="1150">
                <a:solidFill>
                  <a:srgbClr val="1C2B3A"/>
                </a:solidFill>
              </a:rPr>
              <a:t>Example diff:</a:t>
            </a:r>
          </a:p>
          <a:p>
            <a:r>
              <a:rPr sz="1150">
                <a:solidFill>
                  <a:srgbClr val="1C2B3A"/>
                </a:solidFill>
              </a:rPr>
              <a:t>• image.tag: sha-a0017b8 → sha-b21f90c</a:t>
            </a:r>
          </a:p>
          <a:p>
            <a:r>
              <a:rPr sz="1150">
                <a:solidFill>
                  <a:srgbClr val="1C2B3A"/>
                </a:solidFill>
              </a:rPr>
              <a:t>• nothing else in the file differs</a:t>
            </a:r>
          </a:p>
          <a:p>
            <a:r>
              <a:rPr sz="1150">
                <a:solidFill>
                  <a:srgbClr val="1C2B3A"/>
                </a:solidFill>
              </a:rPr>
              <a:t>• one line, one commit (or PR for QA/PROD)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143000"/>
            <a:ext cx="2395728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79" y="121615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  CI Patches Values 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600200"/>
            <a:ext cx="23957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673352"/>
            <a:ext cx="22128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yq e '.image.tag = "sha-b21f90c"' -i
envs/dev/values-auth-service.yaml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6459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59" y="1143000"/>
            <a:ext cx="2395728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599" y="121615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  Commit + Push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59" y="1600200"/>
            <a:ext cx="23957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04888" y="1673352"/>
            <a:ext cx="22128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git commit -m "ci(dev): update auth-service"
git push → zen-gitops main branch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16459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1143000"/>
            <a:ext cx="2395728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46919" y="121615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 ArgoCD Detects Drift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1600200"/>
            <a:ext cx="23957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65207" y="1673352"/>
            <a:ext cx="22128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Controller polls zen-gitops every ~3 min
(webhook can shorten this)
Compares live state vs desired manifest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520440"/>
            <a:ext cx="2395728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79" y="359359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  Sync Executes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3977639"/>
            <a:ext cx="23957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44568" y="4050791"/>
            <a:ext cx="22128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DEV/QA: automated sync fires immediately
PROD: engineer clicks Sync in ArgoCD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40233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C757D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5159" y="3520440"/>
            <a:ext cx="2395728" cy="45720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86599" y="359359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  Helm Renders + Applies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59" y="3977639"/>
            <a:ext cx="23957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04888" y="4050791"/>
            <a:ext cx="22128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helm-charts/ + values file → final manifests
kubectl apply; pods roll with new image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166360"/>
            <a:ext cx="11612880" cy="347472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51937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Propagation Timeline (DEV)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532120"/>
            <a:ext cx="192024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7472" y="55595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CI patch + push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58978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~10 sec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12848" y="5532120"/>
            <a:ext cx="1920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286000" y="55595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ArgoCD poll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58978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~3 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51376" y="5532120"/>
            <a:ext cx="192024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24528" y="55595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Diff computed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24528" y="58978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~5 sec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9904" y="5532120"/>
            <a:ext cx="1920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63056" y="55595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Auto-sync fires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63056" y="58978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instant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28432" y="5532120"/>
            <a:ext cx="192024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01584" y="55595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Pods rolling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01584" y="58978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~30 sec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66960" y="5532120"/>
            <a:ext cx="192024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040112" y="55595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TOTAL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40112" y="58978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~4 min (DEV)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Kubernetes Resources per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CF5"/>
                </a:solidFill>
              </a:rPr>
              <a:t>One Helm chart renders the same 6 resource kinds for every microservice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3749039" cy="4389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527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  Workload  ·  Deployment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62763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1700784"/>
            <a:ext cx="35478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apps/v1 Deployment — owns the pod template
1 container; image + tag come from the values file
replicas set directly (omitted when autoscaling.enabled)
Rolling update gated by liveness/readiness probes on /actuator/health
checksum/config annotation forces a pod restart on ConfigMap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776472"/>
            <a:ext cx="3749039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380390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5496"/>
                </a:solidFill>
              </a:rPr>
              <a:t>File: templates/deployment.yaml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188720"/>
            <a:ext cx="3749039" cy="4389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15968" y="12527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  Networking  · 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162763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4256" y="1700784"/>
            <a:ext cx="35478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ClusterIP Service — stable in-cluster DNS name
Routes traffic to pods via selectorLabels
port/targetPort from values (e.g. 8081 for auth-service)
One Service per microservice, internal-only by default
Consumed by api-gateway and other in-cluster callers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3776472"/>
            <a:ext cx="3749039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34256" y="380390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5496"/>
                </a:solidFill>
              </a:rPr>
              <a:t>File: templates/service.yaml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1188720"/>
            <a:ext cx="3749039" cy="43891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1896" y="12527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 Configuration  ·  ConfigMap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0456" y="162763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0183" y="1700784"/>
            <a:ext cx="35478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Non-secret environment variables — SPRING_PROFILES_ACTIVE, DB_HOST, LOG_LEVEL, etc.
Injected into the pod via envFrom: configMapRef
Contents are hashed into deployment.yaml's checksum/config annotation
Edit a value here → pods roll automatically, no manual restart needed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0456" y="3776472"/>
            <a:ext cx="3749039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0183" y="380390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5496"/>
                </a:solidFill>
              </a:rPr>
              <a:t>File: templates/configmap.yaml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840480"/>
            <a:ext cx="3749039" cy="43891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39044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  External Access  ·  Ingress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27939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8328" y="4352544"/>
            <a:ext cx="35478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Optional per service — off unless ingress.enabled: true in values
Path-based routing on the nginx ingress class
Host + path set per environment: dev.pharma.internal/auth, qa.pharma.internal/auth...
Most services stay cluster-internal; only edge-facing ones expose an Ingress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6428232"/>
            <a:ext cx="3749039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8328" y="645566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5496"/>
                </a:solidFill>
              </a:rPr>
              <a:t>File: templates/ingress.yaml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24528" y="3840480"/>
            <a:ext cx="3749039" cy="438912"/>
          </a:xfrm>
          <a:prstGeom prst="rect">
            <a:avLst/>
          </a:prstGeom>
          <a:solidFill>
            <a:srgbClr val="1A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15968" y="39044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  Autoscaling  ·  HPA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24528" y="427939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34256" y="4352544"/>
            <a:ext cx="35478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HorizontalPodAutoscaler — on when autoscaling.enabled: true
Targets CPU/memory utilization (70%/80% defaults)
Disabled in dev; qa scales 1–3 replicas, prod scales 2–5
When enabled, deployment.yaml drops its static replicas field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6428232"/>
            <a:ext cx="3749039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34256" y="645566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5496"/>
                </a:solidFill>
              </a:rPr>
              <a:t>File: templates/hpa.yaml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0456" y="3840480"/>
            <a:ext cx="3749039" cy="43891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11896" y="39044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  Identity &amp; Secrets  ·  ServiceAccount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0456" y="427939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30183" y="4352544"/>
            <a:ext cx="35478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A"/>
                </a:solidFill>
              </a:rPr>
              <a:t>ServiceAccount created per service (serviceAccount.create: true)
Bound to the pod via serviceAccountName — enables IRSA / pod identity
Secrets are NOT rendered by this chart — External Secrets Operator syncs
db-credentials &amp; jwt-secret from AWS Secrets Manager into native K8s Secrets
Pods consume them via envFrom: secretRef, the same pattern as ConfigMap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0456" y="6428232"/>
            <a:ext cx="3749039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30183" y="645566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5496"/>
                </a:solidFill>
              </a:rPr>
              <a:t>Config: k8s/external-secrets/*.yaml (separate from helm-charts/)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4689</Words>
  <Application>Microsoft Macintosh PowerPoint</Application>
  <PresentationFormat>Custom</PresentationFormat>
  <Paragraphs>512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Chandika Shanmugam</cp:lastModifiedBy>
  <cp:revision>3</cp:revision>
  <dcterms:created xsi:type="dcterms:W3CDTF">2013-01-27T09:14:16Z</dcterms:created>
  <dcterms:modified xsi:type="dcterms:W3CDTF">2026-06-10T02:32:40Z</dcterms:modified>
  <cp:category/>
</cp:coreProperties>
</file>