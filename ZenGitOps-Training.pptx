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2" r:id="rId32"/>
    <p:sldId id="269" r:id="rId15"/>
    <p:sldId id="270" r:id="rId16"/>
    <p:sldId id="271" r:id="rId17"/>
    <p:sldId id="291" r:id="rId41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3" r:id="rId43"/>
    <p:sldId id="294" r:id="rId44"/>
    <p:sldId id="295" r:id="rId45"/>
    <p:sldId id="296" r:id="rId46"/>
    <p:sldId id="297" r:id="rId47"/>
    <p:sldId id="272" r:id="rId18"/>
    <p:sldId id="298" r:id="rId48"/>
    <p:sldId id="299" r:id="rId49"/>
    <p:sldId id="300" r:id="rId50"/>
    <p:sldId id="292" r:id="rId42"/>
    <p:sldId id="273" r:id="rId19"/>
    <p:sldId id="274" r:id="rId2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2" d="100"/>
          <a:sy n="132" d="100"/>
        </p:scale>
        <p:origin x="6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26.xml"/><Relationship Id="rId19" Type="http://schemas.openxmlformats.org/officeDocument/2006/relationships/slide" Target="slides/slide27.xml"/><Relationship Id="rId20" Type="http://schemas.openxmlformats.org/officeDocument/2006/relationships/slide" Target="slides/slide28.xml"/><Relationship Id="rId21" Type="http://schemas.openxmlformats.org/officeDocument/2006/relationships/slide" Target="slides/slide29.xml"/><Relationship Id="rId22" Type="http://schemas.openxmlformats.org/officeDocument/2006/relationships/slide" Target="slides/slide30.xml"/><Relationship Id="rId23" Type="http://schemas.openxmlformats.org/officeDocument/2006/relationships/slide" Target="slides/slide31.xml"/><Relationship Id="rId24" Type="http://schemas.openxmlformats.org/officeDocument/2006/relationships/slide" Target="slides/slide32.xml"/><Relationship Id="rId25" Type="http://schemas.openxmlformats.org/officeDocument/2006/relationships/slide" Target="slides/slide33.xml"/><Relationship Id="rId26" Type="http://schemas.openxmlformats.org/officeDocument/2006/relationships/slide" Target="slides/slide34.xml"/><Relationship Id="rId27" Type="http://schemas.openxmlformats.org/officeDocument/2006/relationships/slide" Target="slides/slide35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4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Continuous Deployment, end-to-end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3566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0096C7"/>
                </a:solidFill>
              </a:rPr>
              <a:t>One service. One pipeline. Then nine.</a:t>
            </a:r>
          </a:p>
        </p:txBody>
      </p:sp>
      <p:sp>
        <p:nvSpPr>
          <p:cNvPr id="5" name="tag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</a:rPr>
              <a:t>ZEN PHARMA · REVISED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STORY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Day 1 at Zen Pharma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You just joined as a DevOps engineer. Here's what's on your laptop.</a:t>
            </a:r>
          </a:p>
        </p:txBody>
      </p:sp>
      <p:sp>
        <p:nvSpPr>
          <p:cNvPr id="7" name="card_bg_0"/>
          <p:cNvSpPr/>
          <p:nvPr/>
        </p:nvSpPr>
        <p:spPr>
          <a:xfrm>
            <a:off x="365760" y="2011680"/>
            <a:ext cx="3657600" cy="3474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rd_head_0"/>
          <p:cNvSpPr txBox="1"/>
          <p:nvPr/>
        </p:nvSpPr>
        <p:spPr>
          <a:xfrm>
            <a:off x="365760" y="21488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What you got</a:t>
            </a:r>
          </a:p>
        </p:txBody>
      </p:sp>
      <p:sp>
        <p:nvSpPr>
          <p:cNvPr id="9" name="card_items_0"/>
          <p:cNvSpPr txBox="1"/>
          <p:nvPr/>
        </p:nvSpPr>
        <p:spPr>
          <a:xfrm>
            <a:off x="594360" y="2880360"/>
            <a:ext cx="320040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• AWS console access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• kubeconfig → pharma-dev-cluster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• Git access to 4 repos</a:t>
            </a:r>
          </a:p>
        </p:txBody>
      </p:sp>
      <p:sp>
        <p:nvSpPr>
          <p:cNvPr id="10" name="card_bg_1"/>
          <p:cNvSpPr/>
          <p:nvPr/>
        </p:nvSpPr>
        <p:spPr>
          <a:xfrm>
            <a:off x="4160520" y="2011680"/>
            <a:ext cx="3657600" cy="3474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_head_1"/>
          <p:cNvSpPr txBox="1"/>
          <p:nvPr/>
        </p:nvSpPr>
        <p:spPr>
          <a:xfrm>
            <a:off x="4160520" y="21488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What already runs</a:t>
            </a:r>
          </a:p>
        </p:txBody>
      </p:sp>
      <p:sp>
        <p:nvSpPr>
          <p:cNvPr id="12" name="card_items_1"/>
          <p:cNvSpPr txBox="1"/>
          <p:nvPr/>
        </p:nvSpPr>
        <p:spPr>
          <a:xfrm>
            <a:off x="4389120" y="2880360"/>
            <a:ext cx="320040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• VPC + subnets across 2 AZs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• EKS cluster (K8s 1.33)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• RDS Postgres, ECR repos</a:t>
            </a:r>
          </a:p>
        </p:txBody>
      </p:sp>
      <p:sp>
        <p:nvSpPr>
          <p:cNvPr id="13" name="card_bg_2"/>
          <p:cNvSpPr/>
          <p:nvPr/>
        </p:nvSpPr>
        <p:spPr>
          <a:xfrm>
            <a:off x="7955280" y="2011680"/>
            <a:ext cx="3657600" cy="3474720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rd_head_2"/>
          <p:cNvSpPr txBox="1"/>
          <p:nvPr/>
        </p:nvSpPr>
        <p:spPr>
          <a:xfrm>
            <a:off x="7955280" y="21488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What you'll do today</a:t>
            </a:r>
          </a:p>
        </p:txBody>
      </p:sp>
      <p:sp>
        <p:nvSpPr>
          <p:cNvPr id="15" name="card_items_2"/>
          <p:cNvSpPr txBox="1"/>
          <p:nvPr/>
        </p:nvSpPr>
        <p:spPr>
          <a:xfrm>
            <a:off x="8183880" y="2880360"/>
            <a:ext cx="320040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• Ship code to that cluster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• Walk every box of the pipeline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• Deploy auth-service end-to-end</a:t>
            </a:r>
          </a:p>
        </p:txBody>
      </p:sp>
      <p:sp>
        <p:nvSpPr>
          <p:cNvPr id="16" name="caption"/>
          <p:cNvSpPr txBox="1"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A2B4A"/>
                </a:solidFill>
              </a:rPr>
              <a:t>By the end of this session you can deploy a service from a git push to a 200 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STORY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Where did the platform come from?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Terraform did it. The zen-infra repo. You use the output, you don't touch it.</a:t>
            </a:r>
          </a:p>
        </p:txBody>
      </p:sp>
      <p:sp>
        <p:nvSpPr>
          <p:cNvPr id="7" name="aws_frame"/>
          <p:cNvSpPr/>
          <p:nvPr/>
        </p:nvSpPr>
        <p:spPr>
          <a:xfrm>
            <a:off x="548640" y="2011680"/>
            <a:ext cx="11064240" cy="3657600"/>
          </a:xfrm>
          <a:prstGeom prst="rect">
            <a:avLst/>
          </a:prstGeom>
          <a:solidFill>
            <a:srgbClr val="F4F6F9"/>
          </a:solidFill>
          <a:ln w="254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ws_label"/>
          <p:cNvSpPr txBox="1"/>
          <p:nvPr/>
        </p:nvSpPr>
        <p:spPr>
          <a:xfrm>
            <a:off x="548640" y="20574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B4A"/>
                </a:solidFill>
              </a:rPr>
              <a:t>AWS Account · us-east-1</a:t>
            </a:r>
          </a:p>
        </p:txBody>
      </p:sp>
      <p:sp>
        <p:nvSpPr>
          <p:cNvPr id="9" name="infra_bg_0"/>
          <p:cNvSpPr/>
          <p:nvPr/>
        </p:nvSpPr>
        <p:spPr>
          <a:xfrm>
            <a:off x="731520" y="2514600"/>
            <a:ext cx="3383279" cy="144018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nfra_name_0"/>
          <p:cNvSpPr txBox="1"/>
          <p:nvPr/>
        </p:nvSpPr>
        <p:spPr>
          <a:xfrm>
            <a:off x="731520" y="256032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VPC</a:t>
            </a:r>
          </a:p>
        </p:txBody>
      </p:sp>
      <p:sp>
        <p:nvSpPr>
          <p:cNvPr id="11" name="infra_body_0"/>
          <p:cNvSpPr txBox="1"/>
          <p:nvPr/>
        </p:nvSpPr>
        <p:spPr>
          <a:xfrm>
            <a:off x="731520" y="3017520"/>
            <a:ext cx="338327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10.0.0.0/16
public + private
across 2 AZs</a:t>
            </a:r>
          </a:p>
        </p:txBody>
      </p:sp>
      <p:sp>
        <p:nvSpPr>
          <p:cNvPr id="12" name="infra_bg_1"/>
          <p:cNvSpPr/>
          <p:nvPr/>
        </p:nvSpPr>
        <p:spPr>
          <a:xfrm>
            <a:off x="4389120" y="2514600"/>
            <a:ext cx="3383279" cy="144018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nfra_name_1"/>
          <p:cNvSpPr txBox="1"/>
          <p:nvPr/>
        </p:nvSpPr>
        <p:spPr>
          <a:xfrm>
            <a:off x="4389120" y="256032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EKS Cluster</a:t>
            </a:r>
          </a:p>
        </p:txBody>
      </p:sp>
      <p:sp>
        <p:nvSpPr>
          <p:cNvPr id="14" name="infra_body_1"/>
          <p:cNvSpPr txBox="1"/>
          <p:nvPr/>
        </p:nvSpPr>
        <p:spPr>
          <a:xfrm>
            <a:off x="4389120" y="3017520"/>
            <a:ext cx="338327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pharma-dev-cluster
Kubernetes 1.33
private node group</a:t>
            </a:r>
          </a:p>
        </p:txBody>
      </p:sp>
      <p:sp>
        <p:nvSpPr>
          <p:cNvPr id="15" name="infra_bg_2"/>
          <p:cNvSpPr/>
          <p:nvPr/>
        </p:nvSpPr>
        <p:spPr>
          <a:xfrm>
            <a:off x="8046719" y="2514600"/>
            <a:ext cx="3383279" cy="144018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nfra_name_2"/>
          <p:cNvSpPr txBox="1"/>
          <p:nvPr/>
        </p:nvSpPr>
        <p:spPr>
          <a:xfrm>
            <a:off x="8046719" y="256032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RDS Postgres</a:t>
            </a:r>
          </a:p>
        </p:txBody>
      </p:sp>
      <p:sp>
        <p:nvSpPr>
          <p:cNvPr id="17" name="infra_body_2"/>
          <p:cNvSpPr txBox="1"/>
          <p:nvPr/>
        </p:nvSpPr>
        <p:spPr>
          <a:xfrm>
            <a:off x="8046719" y="3017520"/>
            <a:ext cx="338327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Private subnets
Multi-AZ ready
encrypted at rest</a:t>
            </a:r>
          </a:p>
        </p:txBody>
      </p:sp>
      <p:sp>
        <p:nvSpPr>
          <p:cNvPr id="18" name="infra_bg_3"/>
          <p:cNvSpPr/>
          <p:nvPr/>
        </p:nvSpPr>
        <p:spPr>
          <a:xfrm>
            <a:off x="731520" y="4137660"/>
            <a:ext cx="3383279" cy="144018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nfra_name_3"/>
          <p:cNvSpPr txBox="1"/>
          <p:nvPr/>
        </p:nvSpPr>
        <p:spPr>
          <a:xfrm>
            <a:off x="731520" y="418338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ECR</a:t>
            </a:r>
          </a:p>
        </p:txBody>
      </p:sp>
      <p:sp>
        <p:nvSpPr>
          <p:cNvPr id="20" name="infra_body_3"/>
          <p:cNvSpPr txBox="1"/>
          <p:nvPr/>
        </p:nvSpPr>
        <p:spPr>
          <a:xfrm>
            <a:off x="731520" y="4640580"/>
            <a:ext cx="338327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 repo per service
IAM-controlled
image scan on push</a:t>
            </a:r>
          </a:p>
        </p:txBody>
      </p:sp>
      <p:sp>
        <p:nvSpPr>
          <p:cNvPr id="21" name="infra_bg_4"/>
          <p:cNvSpPr/>
          <p:nvPr/>
        </p:nvSpPr>
        <p:spPr>
          <a:xfrm>
            <a:off x="4389120" y="4137660"/>
            <a:ext cx="3383279" cy="144018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nfra_name_4"/>
          <p:cNvSpPr txBox="1"/>
          <p:nvPr/>
        </p:nvSpPr>
        <p:spPr>
          <a:xfrm>
            <a:off x="4389120" y="418338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IAM / IRSA</a:t>
            </a:r>
          </a:p>
        </p:txBody>
      </p:sp>
      <p:sp>
        <p:nvSpPr>
          <p:cNvPr id="23" name="infra_body_4"/>
          <p:cNvSpPr txBox="1"/>
          <p:nvPr/>
        </p:nvSpPr>
        <p:spPr>
          <a:xfrm>
            <a:off x="4389120" y="4640580"/>
            <a:ext cx="338327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Pod-level AWS access
No static creds
Least privilege</a:t>
            </a:r>
          </a:p>
        </p:txBody>
      </p:sp>
      <p:sp>
        <p:nvSpPr>
          <p:cNvPr id="24" name="infra_bg_5"/>
          <p:cNvSpPr/>
          <p:nvPr/>
        </p:nvSpPr>
        <p:spPr>
          <a:xfrm>
            <a:off x="8046719" y="4137660"/>
            <a:ext cx="3383279" cy="144018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nfra_name_5"/>
          <p:cNvSpPr txBox="1"/>
          <p:nvPr/>
        </p:nvSpPr>
        <p:spPr>
          <a:xfrm>
            <a:off x="8046719" y="418338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Secrets Manager</a:t>
            </a:r>
          </a:p>
        </p:txBody>
      </p:sp>
      <p:sp>
        <p:nvSpPr>
          <p:cNvPr id="26" name="infra_body_5"/>
          <p:cNvSpPr txBox="1"/>
          <p:nvPr/>
        </p:nvSpPr>
        <p:spPr>
          <a:xfrm>
            <a:off x="8046719" y="4640580"/>
            <a:ext cx="338327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DB creds, JWT secret
Rotated automatically
ESO-backed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A2B4A"/>
                </a:solidFill>
              </a:rPr>
              <a:t>Repo: zen-infra (Terraform).  Pipeline: GitHub Actions.  Output: this cluster.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STORY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Your mission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Deploy auth-service today. The other 8 follow the same pattern.</a:t>
            </a:r>
          </a:p>
        </p:txBody>
      </p:sp>
      <p:sp>
        <p:nvSpPr>
          <p:cNvPr id="7" name="left_head"/>
          <p:cNvSpPr txBox="1"/>
          <p:nvPr/>
        </p:nvSpPr>
        <p:spPr>
          <a:xfrm>
            <a:off x="54864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4A"/>
                </a:solidFill>
              </a:rPr>
              <a:t>9 services to ship</a:t>
            </a:r>
          </a:p>
        </p:txBody>
      </p:sp>
      <p:sp>
        <p:nvSpPr>
          <p:cNvPr id="8" name="svc_0"/>
          <p:cNvSpPr txBox="1"/>
          <p:nvPr/>
        </p:nvSpPr>
        <p:spPr>
          <a:xfrm>
            <a:off x="548640" y="2514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▶ auth-service</a:t>
            </a:r>
          </a:p>
        </p:txBody>
      </p:sp>
      <p:sp>
        <p:nvSpPr>
          <p:cNvPr id="9" name="svc_1"/>
          <p:cNvSpPr txBox="1"/>
          <p:nvPr/>
        </p:nvSpPr>
        <p:spPr>
          <a:xfrm>
            <a:off x="548640" y="28803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• api-gateway</a:t>
            </a:r>
          </a:p>
        </p:txBody>
      </p:sp>
      <p:sp>
        <p:nvSpPr>
          <p:cNvPr id="10" name="svc_2"/>
          <p:cNvSpPr txBox="1"/>
          <p:nvPr/>
        </p:nvSpPr>
        <p:spPr>
          <a:xfrm>
            <a:off x="548640" y="32461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• catalog-service</a:t>
            </a:r>
          </a:p>
        </p:txBody>
      </p:sp>
      <p:sp>
        <p:nvSpPr>
          <p:cNvPr id="11" name="svc_3"/>
          <p:cNvSpPr txBox="1"/>
          <p:nvPr/>
        </p:nvSpPr>
        <p:spPr>
          <a:xfrm>
            <a:off x="548640" y="3611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• inventory-service</a:t>
            </a:r>
          </a:p>
        </p:txBody>
      </p:sp>
      <p:sp>
        <p:nvSpPr>
          <p:cNvPr id="12" name="svc_4"/>
          <p:cNvSpPr txBox="1"/>
          <p:nvPr/>
        </p:nvSpPr>
        <p:spPr>
          <a:xfrm>
            <a:off x="548640" y="39776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• manufacturing-service</a:t>
            </a:r>
          </a:p>
        </p:txBody>
      </p:sp>
      <p:sp>
        <p:nvSpPr>
          <p:cNvPr id="13" name="svc_5"/>
          <p:cNvSpPr txBox="1"/>
          <p:nvPr/>
        </p:nvSpPr>
        <p:spPr>
          <a:xfrm>
            <a:off x="548640" y="4343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• qc-service</a:t>
            </a:r>
          </a:p>
        </p:txBody>
      </p:sp>
      <p:sp>
        <p:nvSpPr>
          <p:cNvPr id="14" name="svc_6"/>
          <p:cNvSpPr txBox="1"/>
          <p:nvPr/>
        </p:nvSpPr>
        <p:spPr>
          <a:xfrm>
            <a:off x="548640" y="47091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• supplier-service</a:t>
            </a:r>
          </a:p>
        </p:txBody>
      </p:sp>
      <p:sp>
        <p:nvSpPr>
          <p:cNvPr id="15" name="svc_7"/>
          <p:cNvSpPr txBox="1"/>
          <p:nvPr/>
        </p:nvSpPr>
        <p:spPr>
          <a:xfrm>
            <a:off x="548640" y="5074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• notification-service</a:t>
            </a:r>
          </a:p>
        </p:txBody>
      </p:sp>
      <p:sp>
        <p:nvSpPr>
          <p:cNvPr id="16" name="svc_8"/>
          <p:cNvSpPr txBox="1"/>
          <p:nvPr/>
        </p:nvSpPr>
        <p:spPr>
          <a:xfrm>
            <a:off x="548640" y="54406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• pharma-ui (React)</a:t>
            </a:r>
          </a:p>
        </p:txBody>
      </p:sp>
      <p:sp>
        <p:nvSpPr>
          <p:cNvPr id="17" name="right_head"/>
          <p:cNvSpPr txBox="1"/>
          <p:nvPr/>
        </p:nvSpPr>
        <p:spPr>
          <a:xfrm>
            <a:off x="6400800" y="20116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4A"/>
                </a:solidFill>
              </a:rPr>
              <a:t>How we get there</a:t>
            </a:r>
          </a:p>
        </p:txBody>
      </p:sp>
      <p:sp>
        <p:nvSpPr>
          <p:cNvPr id="18" name="step_when_bg_0"/>
          <p:cNvSpPr/>
          <p:nvPr/>
        </p:nvSpPr>
        <p:spPr>
          <a:xfrm>
            <a:off x="6400800" y="2514600"/>
            <a:ext cx="1371600" cy="5943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tep_when_0"/>
          <p:cNvSpPr txBox="1"/>
          <p:nvPr/>
        </p:nvSpPr>
        <p:spPr>
          <a:xfrm>
            <a:off x="6400800" y="26060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Today</a:t>
            </a:r>
          </a:p>
        </p:txBody>
      </p:sp>
      <p:sp>
        <p:nvSpPr>
          <p:cNvPr id="20" name="step_what_0"/>
          <p:cNvSpPr txBox="1"/>
          <p:nvPr/>
        </p:nvSpPr>
        <p:spPr>
          <a:xfrm>
            <a:off x="7863840" y="2606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auth-service, end-to-end</a:t>
            </a:r>
          </a:p>
        </p:txBody>
      </p:sp>
      <p:sp>
        <p:nvSpPr>
          <p:cNvPr id="21" name="step_when_bg_1"/>
          <p:cNvSpPr/>
          <p:nvPr/>
        </p:nvSpPr>
        <p:spPr>
          <a:xfrm>
            <a:off x="6400800" y="3291840"/>
            <a:ext cx="1371600" cy="5943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tep_when_1"/>
          <p:cNvSpPr txBox="1"/>
          <p:nvPr/>
        </p:nvSpPr>
        <p:spPr>
          <a:xfrm>
            <a:off x="6400800" y="3383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23" name="step_what_1"/>
          <p:cNvSpPr txBox="1"/>
          <p:nvPr/>
        </p:nvSpPr>
        <p:spPr>
          <a:xfrm>
            <a:off x="7863840" y="33832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Same recipe → catalog, inventory</a:t>
            </a:r>
          </a:p>
        </p:txBody>
      </p:sp>
      <p:sp>
        <p:nvSpPr>
          <p:cNvPr id="24" name="step_when_bg_2"/>
          <p:cNvSpPr/>
          <p:nvPr/>
        </p:nvSpPr>
        <p:spPr>
          <a:xfrm>
            <a:off x="6400800" y="4069080"/>
            <a:ext cx="1371600" cy="5943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step_when_2"/>
          <p:cNvSpPr txBox="1"/>
          <p:nvPr/>
        </p:nvSpPr>
        <p:spPr>
          <a:xfrm>
            <a:off x="6400800" y="4160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Then</a:t>
            </a:r>
          </a:p>
        </p:txBody>
      </p:sp>
      <p:sp>
        <p:nvSpPr>
          <p:cNvPr id="26" name="step_what_2"/>
          <p:cNvSpPr txBox="1"/>
          <p:nvPr/>
        </p:nvSpPr>
        <p:spPr>
          <a:xfrm>
            <a:off x="7863840" y="41605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5 more backend services</a:t>
            </a:r>
          </a:p>
        </p:txBody>
      </p:sp>
      <p:sp>
        <p:nvSpPr>
          <p:cNvPr id="27" name="step_when_bg_3"/>
          <p:cNvSpPr/>
          <p:nvPr/>
        </p:nvSpPr>
        <p:spPr>
          <a:xfrm>
            <a:off x="6400800" y="4846320"/>
            <a:ext cx="1371600" cy="5943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step_when_3"/>
          <p:cNvSpPr txBox="1"/>
          <p:nvPr/>
        </p:nvSpPr>
        <p:spPr>
          <a:xfrm>
            <a:off x="6400800" y="493775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Finally</a:t>
            </a:r>
          </a:p>
        </p:txBody>
      </p:sp>
      <p:sp>
        <p:nvSpPr>
          <p:cNvPr id="29" name="step_what_3"/>
          <p:cNvSpPr txBox="1"/>
          <p:nvPr/>
        </p:nvSpPr>
        <p:spPr>
          <a:xfrm>
            <a:off x="7863840" y="493775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pharma-ui frontend</a:t>
            </a:r>
          </a:p>
        </p:txBody>
      </p:sp>
      <p:sp>
        <p:nvSpPr>
          <p:cNvPr id="30" name="bottom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1A2B4A"/>
                </a:solidFill>
              </a:rPr>
              <a:t>Same pattern, repeated. We learn it once.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OPENING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Where we're heading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The whole pipeline at a glance — we'll walk it left-to-right.</a:t>
            </a:r>
          </a:p>
        </p:txBody>
      </p:sp>
      <p:sp>
        <p:nvSpPr>
          <p:cNvPr id="7" name="pipe_box_0"/>
          <p:cNvSpPr/>
          <p:nvPr/>
        </p:nvSpPr>
        <p:spPr>
          <a:xfrm>
            <a:off x="365760" y="2194560"/>
            <a:ext cx="1515291" cy="90525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ipe_label_0"/>
          <p:cNvSpPr txBox="1"/>
          <p:nvPr/>
        </p:nvSpPr>
        <p:spPr>
          <a:xfrm>
            <a:off x="365760" y="2240279"/>
            <a:ext cx="151529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Code push</a:t>
            </a:r>
          </a:p>
        </p:txBody>
      </p:sp>
      <p:sp>
        <p:nvSpPr>
          <p:cNvPr id="9" name="pipe_tool_0"/>
          <p:cNvSpPr txBox="1"/>
          <p:nvPr/>
        </p:nvSpPr>
        <p:spPr>
          <a:xfrm>
            <a:off x="365760" y="3182112"/>
            <a:ext cx="151529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Git</a:t>
            </a:r>
          </a:p>
        </p:txBody>
      </p:sp>
      <p:sp>
        <p:nvSpPr>
          <p:cNvPr id="10" name="pipe_box_1"/>
          <p:cNvSpPr/>
          <p:nvPr/>
        </p:nvSpPr>
        <p:spPr>
          <a:xfrm>
            <a:off x="2018211" y="2194560"/>
            <a:ext cx="1515291" cy="90525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ipe_label_1"/>
          <p:cNvSpPr txBox="1"/>
          <p:nvPr/>
        </p:nvSpPr>
        <p:spPr>
          <a:xfrm>
            <a:off x="2018211" y="2240279"/>
            <a:ext cx="151529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CI builds image</a:t>
            </a:r>
          </a:p>
        </p:txBody>
      </p:sp>
      <p:sp>
        <p:nvSpPr>
          <p:cNvPr id="12" name="pipe_tool_1"/>
          <p:cNvSpPr txBox="1"/>
          <p:nvPr/>
        </p:nvSpPr>
        <p:spPr>
          <a:xfrm>
            <a:off x="2018211" y="3182112"/>
            <a:ext cx="151529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Jenkins</a:t>
            </a:r>
          </a:p>
        </p:txBody>
      </p:sp>
      <p:sp>
        <p:nvSpPr>
          <p:cNvPr id="13" name="pipe_box_2"/>
          <p:cNvSpPr/>
          <p:nvPr/>
        </p:nvSpPr>
        <p:spPr>
          <a:xfrm>
            <a:off x="3670662" y="2194560"/>
            <a:ext cx="1515291" cy="90525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ipe_label_2"/>
          <p:cNvSpPr txBox="1"/>
          <p:nvPr/>
        </p:nvSpPr>
        <p:spPr>
          <a:xfrm>
            <a:off x="3670662" y="2240279"/>
            <a:ext cx="151529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Image stored</a:t>
            </a:r>
          </a:p>
        </p:txBody>
      </p:sp>
      <p:sp>
        <p:nvSpPr>
          <p:cNvPr id="15" name="pipe_tool_2"/>
          <p:cNvSpPr txBox="1"/>
          <p:nvPr/>
        </p:nvSpPr>
        <p:spPr>
          <a:xfrm>
            <a:off x="3670662" y="3182112"/>
            <a:ext cx="151529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ECR</a:t>
            </a:r>
          </a:p>
        </p:txBody>
      </p:sp>
      <p:sp>
        <p:nvSpPr>
          <p:cNvPr id="16" name="pipe_box_3"/>
          <p:cNvSpPr/>
          <p:nvPr/>
        </p:nvSpPr>
        <p:spPr>
          <a:xfrm>
            <a:off x="5323114" y="2194560"/>
            <a:ext cx="1515291" cy="90525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ipe_label_3"/>
          <p:cNvSpPr txBox="1"/>
          <p:nvPr/>
        </p:nvSpPr>
        <p:spPr>
          <a:xfrm>
            <a:off x="5323114" y="2240279"/>
            <a:ext cx="151529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Bot updates repo</a:t>
            </a:r>
          </a:p>
        </p:txBody>
      </p:sp>
      <p:sp>
        <p:nvSpPr>
          <p:cNvPr id="18" name="pipe_tool_3"/>
          <p:cNvSpPr txBox="1"/>
          <p:nvPr/>
        </p:nvSpPr>
        <p:spPr>
          <a:xfrm>
            <a:off x="5323114" y="3182112"/>
            <a:ext cx="151529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zen-gitops</a:t>
            </a:r>
          </a:p>
        </p:txBody>
      </p:sp>
      <p:sp>
        <p:nvSpPr>
          <p:cNvPr id="19" name="pipe_box_4"/>
          <p:cNvSpPr/>
          <p:nvPr/>
        </p:nvSpPr>
        <p:spPr>
          <a:xfrm>
            <a:off x="6975565" y="2194560"/>
            <a:ext cx="1515291" cy="90525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ipe_label_4"/>
          <p:cNvSpPr txBox="1"/>
          <p:nvPr/>
        </p:nvSpPr>
        <p:spPr>
          <a:xfrm>
            <a:off x="6975565" y="2240279"/>
            <a:ext cx="151529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ArgoCD detects</a:t>
            </a:r>
          </a:p>
        </p:txBody>
      </p:sp>
      <p:sp>
        <p:nvSpPr>
          <p:cNvPr id="21" name="pipe_tool_4"/>
          <p:cNvSpPr txBox="1"/>
          <p:nvPr/>
        </p:nvSpPr>
        <p:spPr>
          <a:xfrm>
            <a:off x="6975565" y="3182112"/>
            <a:ext cx="151529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ArgoCD</a:t>
            </a:r>
          </a:p>
        </p:txBody>
      </p:sp>
      <p:sp>
        <p:nvSpPr>
          <p:cNvPr id="22" name="pipe_box_5"/>
          <p:cNvSpPr/>
          <p:nvPr/>
        </p:nvSpPr>
        <p:spPr>
          <a:xfrm>
            <a:off x="8628017" y="2194560"/>
            <a:ext cx="1515291" cy="90525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pipe_label_5"/>
          <p:cNvSpPr txBox="1"/>
          <p:nvPr/>
        </p:nvSpPr>
        <p:spPr>
          <a:xfrm>
            <a:off x="8628017" y="2240279"/>
            <a:ext cx="151529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Render manifests</a:t>
            </a:r>
          </a:p>
        </p:txBody>
      </p:sp>
      <p:sp>
        <p:nvSpPr>
          <p:cNvPr id="24" name="pipe_tool_5"/>
          <p:cNvSpPr txBox="1"/>
          <p:nvPr/>
        </p:nvSpPr>
        <p:spPr>
          <a:xfrm>
            <a:off x="8628017" y="3182112"/>
            <a:ext cx="151529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Helm</a:t>
            </a:r>
          </a:p>
        </p:txBody>
      </p:sp>
      <p:sp>
        <p:nvSpPr>
          <p:cNvPr id="25" name="pipe_box_6"/>
          <p:cNvSpPr/>
          <p:nvPr/>
        </p:nvSpPr>
        <p:spPr>
          <a:xfrm>
            <a:off x="10280468" y="2194560"/>
            <a:ext cx="1515291" cy="90525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ipe_label_6"/>
          <p:cNvSpPr txBox="1"/>
          <p:nvPr/>
        </p:nvSpPr>
        <p:spPr>
          <a:xfrm>
            <a:off x="10280468" y="2240279"/>
            <a:ext cx="151529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Pod running</a:t>
            </a:r>
          </a:p>
        </p:txBody>
      </p:sp>
      <p:sp>
        <p:nvSpPr>
          <p:cNvPr id="27" name="pipe_tool_6"/>
          <p:cNvSpPr txBox="1"/>
          <p:nvPr/>
        </p:nvSpPr>
        <p:spPr>
          <a:xfrm>
            <a:off x="10280468" y="3182112"/>
            <a:ext cx="151529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EKS</a:t>
            </a:r>
          </a:p>
        </p:txBody>
      </p:sp>
      <p:sp>
        <p:nvSpPr>
          <p:cNvPr id="28" name="caption"/>
          <p:cNvSpPr txBox="1"/>
          <p:nvPr/>
        </p:nvSpPr>
        <p:spPr>
          <a:xfrm>
            <a:off x="365760" y="45720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4A"/>
                </a:solidFill>
              </a:rPr>
              <a:t>By the end of today, every box above will be obvious. We will walk it using one service: auth-service.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OPENING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Meet auth-service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The teaching anchor for the rest of this deck.</a:t>
            </a:r>
          </a:p>
        </p:txBody>
      </p:sp>
      <p:sp>
        <p:nvSpPr>
          <p:cNvPr id="7" name="col_bg_0"/>
          <p:cNvSpPr/>
          <p:nvPr/>
        </p:nvSpPr>
        <p:spPr>
          <a:xfrm>
            <a:off x="365760" y="192024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l_head_0"/>
          <p:cNvSpPr txBox="1"/>
          <p:nvPr/>
        </p:nvSpPr>
        <p:spPr>
          <a:xfrm>
            <a:off x="548640" y="2057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C7"/>
                </a:solidFill>
              </a:rPr>
              <a:t>What it does</a:t>
            </a:r>
          </a:p>
        </p:txBody>
      </p:sp>
      <p:sp>
        <p:nvSpPr>
          <p:cNvPr id="9" name="col_items_0"/>
          <p:cNvSpPr txBox="1"/>
          <p:nvPr/>
        </p:nvSpPr>
        <p:spPr>
          <a:xfrm>
            <a:off x="548640" y="265176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Issues JWT tokens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Validates user logins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Owns the /login endpoint</a:t>
            </a:r>
          </a:p>
        </p:txBody>
      </p:sp>
      <p:sp>
        <p:nvSpPr>
          <p:cNvPr id="10" name="col_bg_1"/>
          <p:cNvSpPr/>
          <p:nvPr/>
        </p:nvSpPr>
        <p:spPr>
          <a:xfrm>
            <a:off x="4206240" y="192024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ol_head_1"/>
          <p:cNvSpPr txBox="1"/>
          <p:nvPr/>
        </p:nvSpPr>
        <p:spPr>
          <a:xfrm>
            <a:off x="4389120" y="2057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C7"/>
                </a:solidFill>
              </a:rPr>
              <a:t>What it needs</a:t>
            </a:r>
          </a:p>
        </p:txBody>
      </p:sp>
      <p:sp>
        <p:nvSpPr>
          <p:cNvPr id="12" name="col_items_1"/>
          <p:cNvSpPr txBox="1"/>
          <p:nvPr/>
        </p:nvSpPr>
        <p:spPr>
          <a:xfrm>
            <a:off x="4389120" y="265176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DB creds (Postgres on RDS)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JWT signing secret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Network egress to RDS</a:t>
            </a:r>
          </a:p>
        </p:txBody>
      </p:sp>
      <p:sp>
        <p:nvSpPr>
          <p:cNvPr id="13" name="col_bg_2"/>
          <p:cNvSpPr/>
          <p:nvPr/>
        </p:nvSpPr>
        <p:spPr>
          <a:xfrm>
            <a:off x="8046720" y="192024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ol_head_2"/>
          <p:cNvSpPr txBox="1"/>
          <p:nvPr/>
        </p:nvSpPr>
        <p:spPr>
          <a:xfrm>
            <a:off x="8229600" y="2057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C7"/>
                </a:solidFill>
              </a:rPr>
              <a:t>Why we picked it</a:t>
            </a:r>
          </a:p>
        </p:txBody>
      </p:sp>
      <p:sp>
        <p:nvSpPr>
          <p:cNvPr id="15" name="col_items_2"/>
          <p:cNvSpPr txBox="1"/>
          <p:nvPr/>
        </p:nvSpPr>
        <p:spPr>
          <a:xfrm>
            <a:off x="8229600" y="265176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Has secrets  → ESO story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Has DB dep   → probes story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Has /login   → ingress story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Runs dev/qa/prod → multi-env</a:t>
            </a:r>
          </a:p>
        </p:txBody>
      </p:sp>
      <p:sp>
        <p:nvSpPr>
          <p:cNvPr id="16" name="takeaway"/>
          <p:cNvSpPr txBox="1"/>
          <p:nvPr/>
        </p:nvSpPr>
        <p:spPr>
          <a:xfrm>
            <a:off x="365760" y="6172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44455"/>
                </a:solidFill>
              </a:rPr>
              <a:t>Everything CD has to handle — secrets, probes, ingress, multi-env — this one service has.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OPENING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'deployed' means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Four checks. If all four are green, we shipped.</a:t>
            </a:r>
          </a:p>
        </p:txBody>
      </p:sp>
      <p:sp>
        <p:nvSpPr>
          <p:cNvPr id="7" name="contract"/>
          <p:cNvSpPr txBox="1"/>
          <p:nvPr/>
        </p:nvSpPr>
        <p:spPr>
          <a:xfrm>
            <a:off x="548640" y="21031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1A2B4A"/>
                </a:solidFill>
              </a:rPr>
              <a:t>• Image exists in ECR with an immutable tag (git SHA)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A2B4A"/>
                </a:solidFill>
              </a:rPr>
              <a:t>• zen-gitops repo references that tag in envs/&lt;env&gt;/values-auth-service.yaml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A2B4A"/>
                </a:solidFill>
              </a:rPr>
              <a:t>• ArgoCD shows Synced + Healthy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A2B4A"/>
                </a:solidFill>
              </a:rPr>
              <a:t>• curl http://&lt;alb-dns-name&gt;/auth/health returns 200</a:t>
            </a:r>
          </a:p>
        </p:txBody>
      </p:sp>
      <p:sp>
        <p:nvSpPr>
          <p:cNvPr id="8" name="example"/>
          <p:cNvSpPr txBox="1"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55"/>
                </a:solidFill>
              </a:rPr>
              <a:t>Example ALB DNS: k8s-zen-pharmaal-...elb.amazonaws.com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PIPELINE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Box 1 — Source code lives here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Developers change code in zen-pharma-backend. Nothing else.</a:t>
            </a:r>
          </a:p>
        </p:txBody>
      </p:sp>
      <p:sp>
        <p:nvSpPr>
          <p:cNvPr id="7" name="tree_bg"/>
          <p:cNvSpPr/>
          <p:nvPr/>
        </p:nvSpPr>
        <p:spPr>
          <a:xfrm>
            <a:off x="548640" y="2011680"/>
            <a:ext cx="6858000" cy="27432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ree"/>
          <p:cNvSpPr txBox="1"/>
          <p:nvPr/>
        </p:nvSpPr>
        <p:spPr>
          <a:xfrm>
            <a:off x="685800" y="2103120"/>
            <a:ext cx="6583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Menlo"/>
              </a:rPr>
              <a:t>zen-pharma-backend/</a:t>
            </a:r>
          </a:p>
          <a:p>
            <a:r>
              <a:rPr sz="1400">
                <a:solidFill>
                  <a:srgbClr val="FFFFFF"/>
                </a:solidFill>
                <a:latin typeface="Menlo"/>
              </a:rPr>
              <a:t>└── auth-service/</a:t>
            </a:r>
          </a:p>
          <a:p>
            <a:r>
              <a:rPr sz="1400">
                <a:solidFill>
                  <a:srgbClr val="FFFFFF"/>
                </a:solidFill>
                <a:latin typeface="Menlo"/>
              </a:rPr>
              <a:t>    ├── Dockerfile</a:t>
            </a:r>
          </a:p>
          <a:p>
            <a:r>
              <a:rPr sz="1400">
                <a:solidFill>
                  <a:srgbClr val="FFFFFF"/>
                </a:solidFill>
                <a:latin typeface="Menlo"/>
              </a:rPr>
              <a:t>    ├── pom.xml</a:t>
            </a:r>
          </a:p>
          <a:p>
            <a:r>
              <a:rPr sz="1400">
                <a:solidFill>
                  <a:srgbClr val="FFFFFF"/>
                </a:solidFill>
                <a:latin typeface="Menlo"/>
              </a:rPr>
              <a:t>    ├── src/main/java/com/zenpharma/auth/...</a:t>
            </a:r>
          </a:p>
          <a:p>
            <a:r>
              <a:rPr sz="1400">
                <a:solidFill>
                  <a:srgbClr val="FFFFFF"/>
                </a:solidFill>
                <a:latin typeface="Menlo"/>
              </a:rPr>
              <a:t>    └── src/main/resources/application.yml</a:t>
            </a:r>
          </a:p>
        </p:txBody>
      </p:sp>
      <p:sp>
        <p:nvSpPr>
          <p:cNvPr id="9" name="callout1"/>
          <p:cNvSpPr txBox="1"/>
          <p:nvPr/>
        </p:nvSpPr>
        <p:spPr>
          <a:xfrm>
            <a:off x="7772400" y="21945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The only repo a backend dev touches.</a:t>
            </a:r>
          </a:p>
        </p:txBody>
      </p:sp>
      <p:sp>
        <p:nvSpPr>
          <p:cNvPr id="10" name="callout2"/>
          <p:cNvSpPr txBox="1"/>
          <p:nvPr/>
        </p:nvSpPr>
        <p:spPr>
          <a:xfrm>
            <a:off x="7772400" y="27432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Every change downstream — image build, repo bump, ArgoCD sync — happens automatically.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PIPELINE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Box 2 — CI builds an image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A push to main triggers Jenkins. Output: a tagged image.</a:t>
            </a:r>
          </a:p>
        </p:txBody>
      </p:sp>
      <p:sp>
        <p:nvSpPr>
          <p:cNvPr id="7" name="pipeline_code_bg"/>
          <p:cNvSpPr/>
          <p:nvPr/>
        </p:nvSpPr>
        <p:spPr>
          <a:xfrm>
            <a:off x="548640" y="2011680"/>
            <a:ext cx="110642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ipeline_code"/>
          <p:cNvSpPr txBox="1"/>
          <p:nvPr/>
        </p:nvSpPr>
        <p:spPr>
          <a:xfrm>
            <a:off x="685800" y="2103120"/>
            <a:ext cx="10789919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Menlo"/>
              </a:rPr>
              <a:t>mvn -q -DskipTests=false test</a:t>
            </a:r>
          </a:p>
          <a:p>
            <a:r>
              <a:rPr sz="1300">
                <a:solidFill>
                  <a:srgbClr val="FFFFFF"/>
                </a:solidFill>
                <a:latin typeface="Menlo"/>
              </a:rPr>
              <a:t>docker build -t auth-service:$GIT_SHA .</a:t>
            </a:r>
          </a:p>
          <a:p>
            <a:r>
              <a:rPr sz="1300">
                <a:solidFill>
                  <a:srgbClr val="FFFFFF"/>
                </a:solidFill>
                <a:latin typeface="Menlo"/>
              </a:rPr>
              <a:t>docker tag  auth-service:$GIT_SHA \</a:t>
            </a:r>
          </a:p>
          <a:p>
            <a:r>
              <a:rPr sz="1300">
                <a:solidFill>
                  <a:srgbClr val="FFFFFF"/>
                </a:solidFill>
                <a:latin typeface="Menlo"/>
              </a:rPr>
              <a:t>            &lt;acct&gt;.dkr.ecr.&lt;region&gt;.amazonaws.com/auth-service:$GIT_SHA</a:t>
            </a:r>
          </a:p>
          <a:p>
            <a:r>
              <a:rPr sz="1300">
                <a:solidFill>
                  <a:srgbClr val="FFFFFF"/>
                </a:solidFill>
                <a:latin typeface="Menlo"/>
              </a:rPr>
              <a:t>docker push &lt;acct&gt;.dkr.ecr.&lt;region&gt;.amazonaws.com/auth-service:$GIT_SHA</a:t>
            </a:r>
          </a:p>
        </p:txBody>
      </p:sp>
      <p:sp>
        <p:nvSpPr>
          <p:cNvPr id="9" name="why"/>
          <p:cNvSpPr txBox="1"/>
          <p:nvPr/>
        </p:nvSpPr>
        <p:spPr>
          <a:xfrm>
            <a:off x="548640" y="448056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1A2B4A"/>
                </a:solidFill>
              </a:rPr>
              <a:t>• Tag is the immutable git SHA — never :latest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2B4A"/>
                </a:solidFill>
              </a:rPr>
              <a:t>• Same image promoted dev → qa → prod (no rebuilds)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2B4A"/>
                </a:solidFill>
              </a:rPr>
              <a:t>• CI's responsibility ends once ECR holds the image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PIPELINE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Box 3 — ECR is the handoff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ECR sits between CI (push) and CD (pull). It's the contract.</a:t>
            </a:r>
          </a:p>
        </p:txBody>
      </p:sp>
      <p:sp>
        <p:nvSpPr>
          <p:cNvPr id="7" name="ci_box"/>
          <p:cNvSpPr/>
          <p:nvPr/>
        </p:nvSpPr>
        <p:spPr>
          <a:xfrm>
            <a:off x="548640" y="2377440"/>
            <a:ext cx="3200400" cy="1828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i_label"/>
          <p:cNvSpPr txBox="1"/>
          <p:nvPr/>
        </p:nvSpPr>
        <p:spPr>
          <a:xfrm>
            <a:off x="54864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CI / Jenkins</a:t>
            </a:r>
          </a:p>
        </p:txBody>
      </p:sp>
      <p:sp>
        <p:nvSpPr>
          <p:cNvPr id="9" name="ci_sub"/>
          <p:cNvSpPr txBox="1"/>
          <p:nvPr/>
        </p:nvSpPr>
        <p:spPr>
          <a:xfrm>
            <a:off x="548640" y="31089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Builds &amp; pushes
images</a:t>
            </a:r>
          </a:p>
        </p:txBody>
      </p:sp>
      <p:sp>
        <p:nvSpPr>
          <p:cNvPr id="10" name="ecr_box"/>
          <p:cNvSpPr/>
          <p:nvPr/>
        </p:nvSpPr>
        <p:spPr>
          <a:xfrm>
            <a:off x="4480560" y="2377440"/>
            <a:ext cx="3200400" cy="1828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ecr_label"/>
          <p:cNvSpPr txBox="1"/>
          <p:nvPr/>
        </p:nvSpPr>
        <p:spPr>
          <a:xfrm>
            <a:off x="448056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ECR</a:t>
            </a:r>
          </a:p>
        </p:txBody>
      </p:sp>
      <p:sp>
        <p:nvSpPr>
          <p:cNvPr id="12" name="ecr_sub"/>
          <p:cNvSpPr txBox="1"/>
          <p:nvPr/>
        </p:nvSpPr>
        <p:spPr>
          <a:xfrm>
            <a:off x="4480560" y="31089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Stores immutable
images by SHA</a:t>
            </a:r>
          </a:p>
        </p:txBody>
      </p:sp>
      <p:sp>
        <p:nvSpPr>
          <p:cNvPr id="13" name="cd_box"/>
          <p:cNvSpPr/>
          <p:nvPr/>
        </p:nvSpPr>
        <p:spPr>
          <a:xfrm>
            <a:off x="8412480" y="2377440"/>
            <a:ext cx="3200400" cy="1828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d_label"/>
          <p:cNvSpPr txBox="1"/>
          <p:nvPr/>
        </p:nvSpPr>
        <p:spPr>
          <a:xfrm>
            <a:off x="841248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CD / ArgoCD</a:t>
            </a:r>
          </a:p>
        </p:txBody>
      </p:sp>
      <p:sp>
        <p:nvSpPr>
          <p:cNvPr id="15" name="cd_sub"/>
          <p:cNvSpPr txBox="1"/>
          <p:nvPr/>
        </p:nvSpPr>
        <p:spPr>
          <a:xfrm>
            <a:off x="8412480" y="31089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Pulls images
by SHA</a:t>
            </a:r>
          </a:p>
        </p:txBody>
      </p:sp>
      <p:sp>
        <p:nvSpPr>
          <p:cNvPr id="16" name="caption"/>
          <p:cNvSpPr txBox="1"/>
          <p:nvPr/>
        </p:nvSpPr>
        <p:spPr>
          <a:xfrm>
            <a:off x="548640" y="4937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A2B4A"/>
                </a:solidFill>
              </a:rPr>
              <a:t>CI's job ends at the push. CD's job starts at the pull. ECR is the seam where the two halves meet.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PIPELINE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Box 4 — zen-gitops is the source of truth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Git holds 'what should be deployed'. Bumping a value file = a deploy.</a:t>
            </a:r>
          </a:p>
        </p:txBody>
      </p:sp>
      <p:sp>
        <p:nvSpPr>
          <p:cNvPr id="7" name="tree_bg"/>
          <p:cNvSpPr/>
          <p:nvPr/>
        </p:nvSpPr>
        <p:spPr>
          <a:xfrm>
            <a:off x="548640" y="2011680"/>
            <a:ext cx="5943600" cy="2286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ree"/>
          <p:cNvSpPr txBox="1"/>
          <p:nvPr/>
        </p:nvSpPr>
        <p:spPr>
          <a:xfrm>
            <a:off x="685800" y="2103120"/>
            <a:ext cx="5669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Menlo"/>
              </a:rPr>
              <a:t>zen-gitops/</a:t>
            </a:r>
          </a:p>
          <a:p>
            <a:r>
              <a:rPr sz="1300">
                <a:solidFill>
                  <a:srgbClr val="FFFFFF"/>
                </a:solidFill>
                <a:latin typeface="Menlo"/>
              </a:rPr>
              <a:t>├── helm-charts/auth-service/        # template</a:t>
            </a:r>
          </a:p>
          <a:p>
            <a:r>
              <a:rPr sz="1300">
                <a:solidFill>
                  <a:srgbClr val="FFFFFF"/>
                </a:solidFill>
                <a:latin typeface="Menlo"/>
              </a:rPr>
              <a:t>└── envs/</a:t>
            </a:r>
          </a:p>
          <a:p>
            <a:r>
              <a:rPr sz="1300">
                <a:solidFill>
                  <a:srgbClr val="FFFFFF"/>
                </a:solidFill>
                <a:latin typeface="Menlo"/>
              </a:rPr>
              <a:t>    └── dev/values-auth-service.yaml # image.tag lives HERE</a:t>
            </a:r>
          </a:p>
        </p:txBody>
      </p:sp>
      <p:sp>
        <p:nvSpPr>
          <p:cNvPr id="9" name="values_bg"/>
          <p:cNvSpPr/>
          <p:nvPr/>
        </p:nvSpPr>
        <p:spPr>
          <a:xfrm>
            <a:off x="6766560" y="2011680"/>
            <a:ext cx="4846320" cy="2286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values"/>
          <p:cNvSpPr txBox="1"/>
          <p:nvPr/>
        </p:nvSpPr>
        <p:spPr>
          <a:xfrm>
            <a:off x="6903720" y="210312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Menlo"/>
              </a:rPr>
              <a:t># values-auth-service.yaml (dev)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image: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repository: &lt;acct&gt;.dkr.ecr...amazonaws.com/auth-service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tag: "a1b2c3d"      # ← bumped by CI/bot to new SHA</a:t>
            </a:r>
          </a:p>
        </p:txBody>
      </p:sp>
      <p:sp>
        <p:nvSpPr>
          <p:cNvPr id="11" name="flow"/>
          <p:cNvSpPr txBox="1"/>
          <p:nvPr/>
        </p:nvSpPr>
        <p:spPr>
          <a:xfrm>
            <a:off x="548640" y="457200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1A2B4A"/>
                </a:solidFill>
              </a:rPr>
              <a:t>• Bot opens a PR that bumps image.tag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2B4A"/>
                </a:solidFill>
              </a:rPr>
              <a:t>• Reviewer merges → commit lands on main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2B4A"/>
                </a:solidFill>
              </a:rPr>
              <a:t>• That commit is the only thing ArgoCD watches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PIPELINE — HELM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Helm? (the pain it solves)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Before we explain Helm, picture the alternative.</a:t>
            </a:r>
          </a:p>
        </p:txBody>
      </p:sp>
      <p:sp>
        <p:nvSpPr>
          <p:cNvPr id="7" name="pain_bg"/>
          <p:cNvSpPr/>
          <p:nvPr/>
        </p:nvSpPr>
        <p:spPr>
          <a:xfrm>
            <a:off x="548640" y="2011680"/>
            <a:ext cx="530352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ain_head"/>
          <p:cNvSpPr txBox="1"/>
          <p:nvPr/>
        </p:nvSpPr>
        <p:spPr>
          <a:xfrm>
            <a:off x="548640" y="2103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53E3E"/>
                </a:solidFill>
              </a:rPr>
              <a:t>Without Helm</a:t>
            </a:r>
          </a:p>
        </p:txBody>
      </p:sp>
      <p:sp>
        <p:nvSpPr>
          <p:cNvPr id="9" name="pain_items"/>
          <p:cNvSpPr txBox="1"/>
          <p:nvPr/>
        </p:nvSpPr>
        <p:spPr>
          <a:xfrm>
            <a:off x="731520" y="265176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9 services × 5 manifests = 45 files (dev)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× 3 envs = 135 YAML files total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Bump an image tag? Edit 9 files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Add an env? Copy 45 files, rename everywhere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Dev and prod drift silently</a:t>
            </a:r>
          </a:p>
        </p:txBody>
      </p:sp>
      <p:sp>
        <p:nvSpPr>
          <p:cNvPr id="10" name="fix_bg"/>
          <p:cNvSpPr/>
          <p:nvPr/>
        </p:nvSpPr>
        <p:spPr>
          <a:xfrm>
            <a:off x="6309360" y="2011680"/>
            <a:ext cx="530352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9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ix_head"/>
          <p:cNvSpPr txBox="1"/>
          <p:nvPr/>
        </p:nvSpPr>
        <p:spPr>
          <a:xfrm>
            <a:off x="6309360" y="2103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D9C5A"/>
                </a:solidFill>
              </a:rPr>
              <a:t>With Helm</a:t>
            </a:r>
          </a:p>
        </p:txBody>
      </p:sp>
      <p:sp>
        <p:nvSpPr>
          <p:cNvPr id="12" name="fix_items"/>
          <p:cNvSpPr txBox="1"/>
          <p:nvPr/>
        </p:nvSpPr>
        <p:spPr>
          <a:xfrm>
            <a:off x="6492240" y="265176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1 template per service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1 values file per (service, env)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Bump an image tag? Edit 1 value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Add an env? New values file. Done.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Drift impossible — same template everywhere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PIPELINE — HELM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Helm chart anatomy (auth-service)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A chart is three files. Everything else is detail.</a:t>
            </a:r>
          </a:p>
        </p:txBody>
      </p:sp>
      <p:sp>
        <p:nvSpPr>
          <p:cNvPr id="7" name="tree_bg"/>
          <p:cNvSpPr/>
          <p:nvPr/>
        </p:nvSpPr>
        <p:spPr>
          <a:xfrm>
            <a:off x="548640" y="2011680"/>
            <a:ext cx="5943600" cy="23774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ree"/>
          <p:cNvSpPr txBox="1"/>
          <p:nvPr/>
        </p:nvSpPr>
        <p:spPr>
          <a:xfrm>
            <a:off x="685800" y="210312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Menlo"/>
              </a:rPr>
              <a:t>helm-charts/auth-service/</a:t>
            </a:r>
          </a:p>
          <a:p>
            <a:r>
              <a:rPr sz="1300">
                <a:solidFill>
                  <a:srgbClr val="FFFFFF"/>
                </a:solidFill>
                <a:latin typeface="Menlo"/>
              </a:rPr>
              <a:t>├── Chart.yaml           # name, version</a:t>
            </a:r>
          </a:p>
          <a:p>
            <a:r>
              <a:rPr sz="1300">
                <a:solidFill>
                  <a:srgbClr val="FFFFFF"/>
                </a:solidFill>
                <a:latin typeface="Menlo"/>
              </a:rPr>
              <a:t>├── values.yaml          # defaults (the knobs)</a:t>
            </a:r>
          </a:p>
          <a:p>
            <a:r>
              <a:rPr sz="1300">
                <a:solidFill>
                  <a:srgbClr val="FFFFFF"/>
                </a:solidFill>
                <a:latin typeface="Menlo"/>
              </a:rPr>
              <a:t>└── templates/</a:t>
            </a:r>
          </a:p>
          <a:p>
            <a:r>
              <a:rPr sz="1300">
                <a:solidFill>
                  <a:srgbClr val="FFFFFF"/>
                </a:solidFill>
                <a:latin typeface="Menlo"/>
              </a:rPr>
              <a:t>    └── deployment.yaml  # the shape (uses the knobs)</a:t>
            </a:r>
          </a:p>
        </p:txBody>
      </p:sp>
      <p:sp>
        <p:nvSpPr>
          <p:cNvPr id="9" name="compare_bg"/>
          <p:cNvSpPr/>
          <p:nvPr/>
        </p:nvSpPr>
        <p:spPr>
          <a:xfrm>
            <a:off x="6766560" y="2011680"/>
            <a:ext cx="4846320" cy="23774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ompare"/>
          <p:cNvSpPr txBox="1"/>
          <p:nvPr/>
        </p:nvSpPr>
        <p:spPr>
          <a:xfrm>
            <a:off x="6903720" y="210312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Menlo"/>
              </a:rPr>
              <a:t># raw K8s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image: auth-service:1.2.3</a:t>
            </a:r>
          </a:p>
          <a:p>
            <a:endParaRPr sz="1200">
              <a:solidFill>
                <a:srgbClr val="FFFFFF"/>
              </a:solidFill>
              <a:latin typeface="Menlo"/>
            </a:endParaRPr>
          </a:p>
          <a:p>
            <a:r>
              <a:rPr sz="1200">
                <a:solidFill>
                  <a:srgbClr val="FFFFFF"/>
                </a:solidFill>
                <a:latin typeface="Menlo"/>
              </a:rPr>
              <a:t># templated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image: {{ .Values.image.repository }}\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   :{{ .Values.image.tag }}</a:t>
            </a:r>
          </a:p>
        </p:txBody>
      </p:sp>
      <p:sp>
        <p:nvSpPr>
          <p:cNvPr id="11" name="explain"/>
          <p:cNvSpPr txBox="1"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1A2B4A"/>
                </a:solidFill>
              </a:rPr>
              <a:t>• Chart.yaml — chart's identity (name, version)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2B4A"/>
                </a:solidFill>
              </a:rPr>
              <a:t>• values.yaml — knobs the operator can turn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2B4A"/>
                </a:solidFill>
              </a:rPr>
              <a:t>• templates/* — Kubernetes YAML with placeholders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2B4A"/>
                </a:solidFill>
              </a:rPr>
              <a:t>• helm template renders these into plain YAML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C7"/>
                </a:solidFill>
              </a:rPr>
              <a:t>HELM — K8S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5743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 Helm creates for auth-service in Kubernetes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57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</a:rPr>
              <a:t>ArgoCD applies all of these when it syncs the Helm chart.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00000"/>
            <a:ext cx="3719144" cy="2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82880"/>
            <a:ext cx="3353384" cy="4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6C7"/>
                </a:solidFill>
              </a:rPr>
              <a:t>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0000"/>
            <a:ext cx="3353384" cy="137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</a:rPr>
              <a:t>Runs auth-service.
Restarts it if it crashes.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2064" y="1900000"/>
            <a:ext cx="3719144" cy="2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4944" y="2082880"/>
            <a:ext cx="3353384" cy="4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6C7"/>
                </a:solidFill>
              </a:rPr>
              <a:t>ServiceAccount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4944" y="2600000"/>
            <a:ext cx="3353384" cy="137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</a:rPr>
              <a:t>auth-service's identity
inside the cluster.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8368" y="1900000"/>
            <a:ext cx="3719144" cy="2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1248" y="2082880"/>
            <a:ext cx="3353384" cy="4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6C7"/>
                </a:solidFill>
              </a:rPr>
              <a:t>ConfigMap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1248" y="2600000"/>
            <a:ext cx="3353384" cy="137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</a:rPr>
              <a:t>Non-secret config
injected as env vars.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87160"/>
            <a:ext cx="3719144" cy="2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470040"/>
            <a:ext cx="3353384" cy="4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6C7"/>
                </a:solidFill>
              </a:rPr>
              <a:t>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87160"/>
            <a:ext cx="3353384" cy="137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</a:rPr>
              <a:t>Stable address so api-gateway
can reach auth-service.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2064" y="4287160"/>
            <a:ext cx="3719144" cy="2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4944" y="4470040"/>
            <a:ext cx="3353384" cy="4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6C7"/>
                </a:solidFill>
              </a:rPr>
              <a:t>Ingress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4944" y="4987160"/>
            <a:ext cx="3353384" cy="137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</a:rPr>
              <a:t>Routes external HTTP traffic
to the right service.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8368" y="4287160"/>
            <a:ext cx="3719144" cy="2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1248" y="4470040"/>
            <a:ext cx="3353384" cy="4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6C7"/>
                </a:solidFill>
              </a:rPr>
              <a:t>HPA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1248" y="4987160"/>
            <a:ext cx="3353384" cy="137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</a:rPr>
              <a:t>Auto-scales pods up/down
based on CPU/memory.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PIPELINE — HELM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Per-environment values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Same chart, three values files, three environments.</a:t>
            </a:r>
          </a:p>
        </p:txBody>
      </p:sp>
      <p:sp>
        <p:nvSpPr>
          <p:cNvPr id="7" name="env_head_0"/>
          <p:cNvSpPr txBox="1"/>
          <p:nvPr/>
        </p:nvSpPr>
        <p:spPr>
          <a:xfrm>
            <a:off x="365760" y="1874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envs/dev/values-auth-service.yaml</a:t>
            </a:r>
          </a:p>
        </p:txBody>
      </p:sp>
      <p:sp>
        <p:nvSpPr>
          <p:cNvPr id="8" name="env_code_0_bg"/>
          <p:cNvSpPr/>
          <p:nvPr/>
        </p:nvSpPr>
        <p:spPr>
          <a:xfrm>
            <a:off x="365760" y="2286000"/>
            <a:ext cx="3657600" cy="29260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env_code_0"/>
          <p:cNvSpPr txBox="1"/>
          <p:nvPr/>
        </p:nvSpPr>
        <p:spPr>
          <a:xfrm>
            <a:off x="502920" y="23774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Menlo"/>
              </a:rPr>
              <a:t>image: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  tag: "a1b2c3d"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replicas: 1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resources: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  limits: {cpu: "200m", memory: "256Mi"}</a:t>
            </a:r>
          </a:p>
        </p:txBody>
      </p:sp>
      <p:sp>
        <p:nvSpPr>
          <p:cNvPr id="10" name="env_head_1"/>
          <p:cNvSpPr txBox="1"/>
          <p:nvPr/>
        </p:nvSpPr>
        <p:spPr>
          <a:xfrm>
            <a:off x="4160520" y="1874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envs/qa/values-auth-service.yaml</a:t>
            </a:r>
          </a:p>
        </p:txBody>
      </p:sp>
      <p:sp>
        <p:nvSpPr>
          <p:cNvPr id="11" name="env_code_1_bg"/>
          <p:cNvSpPr/>
          <p:nvPr/>
        </p:nvSpPr>
        <p:spPr>
          <a:xfrm>
            <a:off x="4160520" y="2286000"/>
            <a:ext cx="3657600" cy="29260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env_code_1"/>
          <p:cNvSpPr txBox="1"/>
          <p:nvPr/>
        </p:nvSpPr>
        <p:spPr>
          <a:xfrm>
            <a:off x="4297680" y="23774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Menlo"/>
              </a:rPr>
              <a:t>image: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  tag: "a1b2c3d"  # promoted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replicas: 2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resources: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  limits: {cpu: "500m", memory: "512Mi"}</a:t>
            </a:r>
          </a:p>
        </p:txBody>
      </p:sp>
      <p:sp>
        <p:nvSpPr>
          <p:cNvPr id="13" name="env_head_2"/>
          <p:cNvSpPr txBox="1"/>
          <p:nvPr/>
        </p:nvSpPr>
        <p:spPr>
          <a:xfrm>
            <a:off x="7955280" y="1874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envs/prod/values-auth-service.yaml</a:t>
            </a:r>
          </a:p>
        </p:txBody>
      </p:sp>
      <p:sp>
        <p:nvSpPr>
          <p:cNvPr id="14" name="env_code_2_bg"/>
          <p:cNvSpPr/>
          <p:nvPr/>
        </p:nvSpPr>
        <p:spPr>
          <a:xfrm>
            <a:off x="7955280" y="2286000"/>
            <a:ext cx="3657600" cy="29260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env_code_2"/>
          <p:cNvSpPr txBox="1"/>
          <p:nvPr/>
        </p:nvSpPr>
        <p:spPr>
          <a:xfrm>
            <a:off x="8092440" y="23774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Menlo"/>
              </a:rPr>
              <a:t>image: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  tag: "a1b2c3d"  # promoted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replicas: 3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resources: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  limits: {cpu: "1000m", memory: "1Gi"}</a:t>
            </a:r>
          </a:p>
        </p:txBody>
      </p:sp>
      <p:sp>
        <p:nvSpPr>
          <p:cNvPr id="16" name="takeaway"/>
          <p:cNvSpPr txBox="1"/>
          <p:nvPr/>
        </p:nvSpPr>
        <p:spPr>
          <a:xfrm>
            <a:off x="365760" y="54864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A2B4A"/>
                </a:solidFill>
              </a:rPr>
              <a:t>Same image tag flows dev → qa → prod. Only knobs that differ live in each values file.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PIPELINE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Box 5 — ArgoCD detects the change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An Application CRD tells ArgoCD what to watch and where to sync.</a:t>
            </a:r>
          </a:p>
        </p:txBody>
      </p:sp>
      <p:sp>
        <p:nvSpPr>
          <p:cNvPr id="7" name="app_yaml_bg"/>
          <p:cNvSpPr/>
          <p:nvPr/>
        </p:nvSpPr>
        <p:spPr>
          <a:xfrm>
            <a:off x="548640" y="2011680"/>
            <a:ext cx="6858000" cy="41148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pp_yaml"/>
          <p:cNvSpPr txBox="1"/>
          <p:nvPr/>
        </p:nvSpPr>
        <p:spPr>
          <a:xfrm>
            <a:off x="685800" y="2103120"/>
            <a:ext cx="6583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Menlo"/>
              </a:rPr>
              <a:t>apiVersion: argoproj.io/v1alpha1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kind: Application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metadata: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name: auth-service-dev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spec: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source: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repoURL: github.com/.../zen-gitops.git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path: helm-charts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helm: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  valueFiles: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    - ../envs/dev/values-auth-service.yaml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destination: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namespace: dev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syncPolicy: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automated: { prune: true }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7772400" y="22860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source → which repo + path + values file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destination → which namespace in the cluster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syncPolicy.automated → no human kicks the sync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ArgoCD polls every ~3 min by default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PIPELINE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Box 6 — Sync: what hits the cluster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ArgoCD does what you'd do by hand. Just automatically.</a:t>
            </a:r>
          </a:p>
        </p:txBody>
      </p:sp>
      <p:sp>
        <p:nvSpPr>
          <p:cNvPr id="7" name="step_num_bg_0"/>
          <p:cNvSpPr/>
          <p:nvPr/>
        </p:nvSpPr>
        <p:spPr>
          <a:xfrm>
            <a:off x="548640" y="2011680"/>
            <a:ext cx="731520" cy="1188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ep_num_0"/>
          <p:cNvSpPr txBox="1"/>
          <p:nvPr/>
        </p:nvSpPr>
        <p:spPr>
          <a:xfrm>
            <a:off x="548640" y="2286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1.</a:t>
            </a:r>
          </a:p>
        </p:txBody>
      </p:sp>
      <p:sp>
        <p:nvSpPr>
          <p:cNvPr id="9" name="step_head_0"/>
          <p:cNvSpPr txBox="1"/>
          <p:nvPr/>
        </p:nvSpPr>
        <p:spPr>
          <a:xfrm>
            <a:off x="155448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B4A"/>
                </a:solidFill>
              </a:rPr>
              <a:t>helm template</a:t>
            </a:r>
          </a:p>
        </p:txBody>
      </p:sp>
      <p:sp>
        <p:nvSpPr>
          <p:cNvPr id="10" name="step_body_0"/>
          <p:cNvSpPr txBox="1"/>
          <p:nvPr/>
        </p:nvSpPr>
        <p:spPr>
          <a:xfrm>
            <a:off x="1554480" y="2606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Renders the chart with the env's values file into plain K8s YAML.</a:t>
            </a:r>
          </a:p>
        </p:txBody>
      </p:sp>
      <p:sp>
        <p:nvSpPr>
          <p:cNvPr id="11" name="step_num_bg_1"/>
          <p:cNvSpPr/>
          <p:nvPr/>
        </p:nvSpPr>
        <p:spPr>
          <a:xfrm>
            <a:off x="548640" y="3383280"/>
            <a:ext cx="731520" cy="1188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ep_num_1"/>
          <p:cNvSpPr txBox="1"/>
          <p:nvPr/>
        </p:nvSpPr>
        <p:spPr>
          <a:xfrm>
            <a:off x="548640" y="3657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2.</a:t>
            </a:r>
          </a:p>
        </p:txBody>
      </p:sp>
      <p:sp>
        <p:nvSpPr>
          <p:cNvPr id="13" name="step_head_1"/>
          <p:cNvSpPr txBox="1"/>
          <p:nvPr/>
        </p:nvSpPr>
        <p:spPr>
          <a:xfrm>
            <a:off x="155448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B4A"/>
                </a:solidFill>
              </a:rPr>
              <a:t>diff vs live</a:t>
            </a:r>
          </a:p>
        </p:txBody>
      </p:sp>
      <p:sp>
        <p:nvSpPr>
          <p:cNvPr id="14" name="step_body_1"/>
          <p:cNvSpPr txBox="1"/>
          <p:nvPr/>
        </p:nvSpPr>
        <p:spPr>
          <a:xfrm>
            <a:off x="1554480" y="3977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Compares rendered YAML against what's actually in the cluster.</a:t>
            </a:r>
          </a:p>
        </p:txBody>
      </p:sp>
      <p:sp>
        <p:nvSpPr>
          <p:cNvPr id="15" name="step_num_bg_2"/>
          <p:cNvSpPr/>
          <p:nvPr/>
        </p:nvSpPr>
        <p:spPr>
          <a:xfrm>
            <a:off x="548640" y="4754880"/>
            <a:ext cx="731520" cy="1188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tep_num_2"/>
          <p:cNvSpPr txBox="1"/>
          <p:nvPr/>
        </p:nvSpPr>
        <p:spPr>
          <a:xfrm>
            <a:off x="548640" y="50292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3.</a:t>
            </a:r>
          </a:p>
        </p:txBody>
      </p:sp>
      <p:sp>
        <p:nvSpPr>
          <p:cNvPr id="17" name="step_head_2"/>
          <p:cNvSpPr txBox="1"/>
          <p:nvPr/>
        </p:nvSpPr>
        <p:spPr>
          <a:xfrm>
            <a:off x="15544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B4A"/>
                </a:solidFill>
              </a:rPr>
              <a:t>kubectl apply</a:t>
            </a:r>
          </a:p>
        </p:txBody>
      </p:sp>
      <p:sp>
        <p:nvSpPr>
          <p:cNvPr id="18" name="step_body_2"/>
          <p:cNvSpPr txBox="1"/>
          <p:nvPr/>
        </p:nvSpPr>
        <p:spPr>
          <a:xfrm>
            <a:off x="1554480" y="5349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Applies the diff. New ReplicaSet → new Pod → readiness probe → traffic.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2B4A"/>
                </a:solidFill>
              </a:rPr>
              <a:t>Same end result as kubectl apply — executed by Argo, not you.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C7"/>
                </a:solidFill>
              </a:rPr>
              <a:t>HELM — K8S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5743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Deployment: the contract that keeps auth-service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57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</a:rPr>
              <a:t>Tells Kubernetes what to run, how many copies, and how to check health.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00000"/>
            <a:ext cx="5400000" cy="4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82880"/>
            <a:ext cx="5034240" cy="3734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4A"/>
                </a:solidFill>
              </a:rPr>
              <a:t>Like a work contract — tells Kubernetes: 'Keep 1 copy of auth-service running at all times. If the container crashes, restart it. When you push a new image tag, swap it in with zero downtime.'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4360" y="1900000"/>
            <a:ext cx="5828832" cy="410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1520" y="2037160"/>
            <a:ext cx="5554512" cy="38256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>
                <a:solidFill>
                  <a:srgbClr val="88AACC"/>
                </a:solidFill>
                <a:latin typeface="Menlo"/>
              </a:rPr>
              <a:t># values-auth-service.yaml (dev)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replicaCount: 1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image: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repository: &lt;ecr-registry&gt;/auth-service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tag: sha-ef1ccc7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livenessProbe:             # restarts a sick pod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path: /actuator/health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port: 8081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readinessProbe:            # holds traffic until ready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path: /actuator/health/readiness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port: 8081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200000"/>
            <a:ext cx="11457432" cy="500000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235000"/>
            <a:ext cx="11091672" cy="43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</a:rPr>
              <a:t>▸  liveness = restart if unhealthy   |   readiness = don't send traffic until ready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C7"/>
                </a:solidFill>
              </a:rPr>
              <a:t>HELM — K8S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5743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ServiceAccount: auth-service's identity badge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57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</a:rPr>
              <a:t>Kubernetes uses it to control what the pod is allowed to 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00000"/>
            <a:ext cx="5400000" cy="4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82880"/>
            <a:ext cx="5034240" cy="3734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4A"/>
                </a:solidFill>
              </a:rPr>
              <a:t>The name badge the pod wears inside the cluster. Kubernetes uses it to decide what the pod is allowed to do. It's also where AWS IAM annotations go — so auth-service can call Secrets Manager without hardcoding credentials.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4360" y="1900000"/>
            <a:ext cx="5828832" cy="410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1520" y="2037160"/>
            <a:ext cx="5554512" cy="38256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>
                <a:solidFill>
                  <a:srgbClr val="88AACC"/>
                </a:solidFill>
                <a:latin typeface="Menlo"/>
              </a:rPr>
              <a:t># values-auth-service.yaml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serviceAccount: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create: true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name: auth-service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200">
                <a:solidFill>
                  <a:srgbClr val="88AACC"/>
                </a:solidFill>
                <a:latin typeface="Menlo"/>
              </a:rPr>
              <a:t># The Deployment references it: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spec: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serviceAccountName: auth-service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200000"/>
            <a:ext cx="11457432" cy="500000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235000"/>
            <a:ext cx="11091672" cy="43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</a:rPr>
              <a:t>▸  No ServiceAccount = pod runs as 'default', with no controlled identity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C7"/>
                </a:solidFill>
              </a:rPr>
              <a:t>HELM — K8S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5743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ConfigMap: auth-service's settings file in Kubernetes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57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</a:rPr>
              <a:t>Non-secret config stored in the cluster and injected as env vars at startup.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00000"/>
            <a:ext cx="5400000" cy="4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82880"/>
            <a:ext cx="5034240" cy="3734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4A"/>
                </a:solidFill>
              </a:rPr>
              <a:t>Like a .env file, but stored in Kubernetes. DB_HOST, LOG_LEVEL, SERVER_PORT live here — injected as environment variables when the pod starts. Change config without rebuilding the Docker image.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4360" y="1900000"/>
            <a:ext cx="5828832" cy="410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1520" y="2037160"/>
            <a:ext cx="5554512" cy="38256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>
                <a:solidFill>
                  <a:srgbClr val="88AACC"/>
                </a:solidFill>
                <a:latin typeface="Menlo"/>
              </a:rPr>
              <a:t># values-auth-service.yaml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configmap: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SPRING_PROFILES_ACTIVE: dev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DB_HOST: pharma-dev-postgres.cyrywaguk6v4.us-east-1.rds.amazonaws.com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LOG_LEVEL: DEBUG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SERVER_PORT: "8081"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TOKEN_EXPIRATION_MS: "86400000"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200">
                <a:solidFill>
                  <a:srgbClr val="88AACC"/>
                </a:solidFill>
                <a:latin typeface="Menlo"/>
              </a:rPr>
              <a:t># Deployment picks it up via: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envFrom: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- configMapRef: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  name: auth-service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200000"/>
            <a:ext cx="11457432" cy="500000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235000"/>
            <a:ext cx="11091672" cy="43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</a:rPr>
              <a:t>▸  Secrets (DB password, JWT key) come from Secrets Manager — NOT the ConfigMap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C7"/>
                </a:solidFill>
              </a:rPr>
              <a:t>HELM — K8S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5743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Service: auth-service's stable phone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57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</a:rPr>
              <a:t>A fixed DNS name inside the cluster — pod restarts are invisible to callers.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00000"/>
            <a:ext cx="5400000" cy="4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82880"/>
            <a:ext cx="5034240" cy="3734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4A"/>
                </a:solidFill>
              </a:rPr>
              <a:t>Pod IPs change every restart. The Service gives auth-service a fixed DNS name inside the cluster: auth-service:8081. api-gateway always dials this name — pod restarts are completely invisible to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4360" y="1900000"/>
            <a:ext cx="5828832" cy="410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1520" y="2037160"/>
            <a:ext cx="5554512" cy="38256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>
                <a:solidFill>
                  <a:srgbClr val="88AACC"/>
                </a:solidFill>
                <a:latin typeface="Menlo"/>
              </a:rPr>
              <a:t># values-auth-service.yaml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service: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type: ClusterIP    # internal only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port: 8081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targetPort: 8081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200">
                <a:solidFill>
                  <a:srgbClr val="88AACC"/>
                </a:solidFill>
                <a:latin typeface="Menlo"/>
              </a:rPr>
              <a:t># Helm generates a label selector: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selector: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app: auth-service  # routes to pods</a:t>
            </a:r>
          </a:p>
          <a:p>
            <a:r>
              <a:rPr sz="1200">
                <a:solidFill>
                  <a:srgbClr val="88AACC"/>
                </a:solidFill>
                <a:latin typeface="Menlo"/>
              </a:rPr>
              <a:t>                     # with this label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200000"/>
            <a:ext cx="11457432" cy="500000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235000"/>
            <a:ext cx="11091672" cy="43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</a:rPr>
              <a:t>▸  ClusterIP = reachable only inside the cluster, not from the internet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C7"/>
                </a:solidFill>
              </a:rPr>
              <a:t>HELM — K8S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5743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Ingress: the front door — intentionally locked for auth-service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57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</a:rPr>
              <a:t>Routes external HTTP traffic — disabled here because api-gateway is the entry point.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00000"/>
            <a:ext cx="5400000" cy="4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82880"/>
            <a:ext cx="5034240" cy="3734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4A"/>
                </a:solidFill>
              </a:rPr>
              <a:t>Ingress routes external HTTP traffic into the cluster. auth-service has it disabled — outside callers hit api-gateway first, which then calls auth-service internally. enabled: false means zero Ingress objects are created.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4360" y="1900000"/>
            <a:ext cx="5828832" cy="410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1520" y="2037160"/>
            <a:ext cx="5554512" cy="38256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>
                <a:solidFill>
                  <a:srgbClr val="88AACC"/>
                </a:solidFill>
                <a:latin typeface="Menlo"/>
              </a:rPr>
              <a:t># values-auth-service.yaml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ingress: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enabled: false   # no Ingress object created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className: nginx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host: dev.pharma.internal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path: /auth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pathType: Prefix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200">
                <a:solidFill>
                  <a:srgbClr val="88AACC"/>
                </a:solidFill>
                <a:latin typeface="Menlo"/>
              </a:rPr>
              <a:t># api-gateway + pharma-ui have: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ingress: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enabled: true    # Ingress IS created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200000"/>
            <a:ext cx="11457432" cy="500000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235000"/>
            <a:ext cx="11091672" cy="43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</a:rPr>
              <a:t>▸  Set enabled: true to expose a service externally — api-gateway and pharma-ui both have it 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C7"/>
                </a:solidFill>
              </a:rPr>
              <a:t>HELM — K8S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5743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HPA: auto-scaling auth-service (off in dev, on in prod)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57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</a:rPr>
              <a:t>Watches CPU/memory and adjusts pod count automatically.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00000"/>
            <a:ext cx="5400000" cy="4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82880"/>
            <a:ext cx="5034240" cy="3734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4A"/>
                </a:solidFill>
              </a:rPr>
              <a:t>HPA watches CPU and memory. If auth-service gets hammered with requests, HPA tells the Deployment to spin up more pods — up to 3. When load drops, it scales back to 1. Disabled in dev to save cost; enabled in prod.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4360" y="1900000"/>
            <a:ext cx="5828832" cy="410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1520" y="2037160"/>
            <a:ext cx="5554512" cy="38256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>
                <a:solidFill>
                  <a:srgbClr val="88AACC"/>
                </a:solidFill>
                <a:latin typeface="Menlo"/>
              </a:rPr>
              <a:t># values-auth-service.yaml (dev)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autoscaling: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enabled: false    # disabled in dev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minReplicas: 1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maxReplicas: 3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targetCPUUtilizationPercentage: 70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200">
                <a:solidFill>
                  <a:srgbClr val="88AACC"/>
                </a:solidFill>
                <a:latin typeface="Menlo"/>
              </a:rPr>
              <a:t># In prod values-auth-service.yaml: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autoscaling: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enabled: true     # HPA IS created in prod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200000"/>
            <a:ext cx="11457432" cy="500000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235000"/>
            <a:ext cx="11091672" cy="43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</a:rPr>
              <a:t>▸  When HPA is active it controls replicas — replicaCount in values is ignored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C7"/>
                </a:solidFill>
              </a:rPr>
              <a:t>HELM — K8S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5743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How all 6 objects wire together for auth-service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57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</a:rPr>
              <a:t>One ArgoCD sync created all of this. You only changed a git tag.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00000"/>
            <a:ext cx="11457432" cy="415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37160"/>
            <a:ext cx="11183112" cy="38756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Menlo"/>
              </a:rPr>
              <a:t>  [ api-gateway pod ]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      │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      ▼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┌──────────────────────────────────┐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│  Service  (ClusterIP)            │  ← stable DNS: auth-service:8081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└──────────────┬───────────────────┘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             │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             ▼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┌──────────────────────────────────┐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│  Pod  (auth-service container)   │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└──────────────────────────────────┘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    ▲                   ▲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Deployment           ConfigMap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(keeps pod           (DB_HOST, LOG_LEVEL,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running,             SERVER_PORT injected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rolls image tags)    as env vars at startup)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    ▲                   ▲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ServiceAccount        HPA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(pod identity)        (watches CPU → prod only)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Ingress: disabled — external traffic enters via api-gateway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150000"/>
            <a:ext cx="11457432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44455"/>
                </a:solidFill>
              </a:rPr>
              <a:t>You changed one image tag in git — Kubernetes handled the rest.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C7"/>
                </a:solidFill>
              </a:rPr>
              <a:t>GITOPS — 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57432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Why GitOps? The whole point in one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57432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</a:rPr>
              <a:t>Dev → QA → Prod: same Helm chart, different values files.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1576" y="1900000"/>
            <a:ext cx="1700000" cy="1000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3016" y="1991440"/>
            <a:ext cx="151712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96C7"/>
                </a:solidFill>
              </a:rPr>
              <a:t>1  Code 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016" y="2410000"/>
            <a:ext cx="1517120" cy="4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Developer
merges 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1576" y="2280000"/>
            <a:ext cx="137160" cy="240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0096C7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8736" y="1900000"/>
            <a:ext cx="1700000" cy="1000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0176" y="1991440"/>
            <a:ext cx="151712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96C7"/>
                </a:solidFill>
              </a:rPr>
              <a:t>2  CI builds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0176" y="2410000"/>
            <a:ext cx="1517120" cy="4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Image tagged
sha-ef1ccc7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8736" y="2280000"/>
            <a:ext cx="137160" cy="240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0096C7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896" y="1900000"/>
            <a:ext cx="1700000" cy="1000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7336" y="1991440"/>
            <a:ext cx="151712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96C7"/>
                </a:solidFill>
              </a:rPr>
              <a:t>3  ECR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7336" y="2410000"/>
            <a:ext cx="1517120" cy="4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Image stored
in registry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5896" y="2280000"/>
            <a:ext cx="137160" cy="240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0096C7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6" y="1900000"/>
            <a:ext cx="1700000" cy="1000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1991440"/>
            <a:ext cx="151712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96C7"/>
                </a:solidFill>
              </a:rPr>
              <a:t>4  git tag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410000"/>
            <a:ext cx="1517120" cy="4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zen-gitops PR
merged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056" y="2280000"/>
            <a:ext cx="137160" cy="240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0096C7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216" y="1900000"/>
            <a:ext cx="1700000" cy="1000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1656" y="1991440"/>
            <a:ext cx="151712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96C7"/>
                </a:solidFill>
              </a:rPr>
              <a:t>5  ArgoCD detects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1656" y="2410000"/>
            <a:ext cx="1517120" cy="4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Polls git
every 3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0216" y="2280000"/>
            <a:ext cx="137160" cy="240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0096C7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37376" y="1900000"/>
            <a:ext cx="1700000" cy="1000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8816" y="1991440"/>
            <a:ext cx="151712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96C7"/>
                </a:solidFill>
              </a:rPr>
              <a:t>6  EKS cluster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8816" y="2410000"/>
            <a:ext cx="1517120" cy="4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Helm synced;
pod running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150000"/>
            <a:ext cx="3666744" cy="2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332880"/>
            <a:ext cx="3300984" cy="4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96C7"/>
                </a:solidFill>
              </a:rPr>
              <a:t>Helm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830000"/>
            <a:ext cx="3300984" cy="18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Packages all 6 K8s objects as one reusable chart. One chart drives every service across every environment.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61104" y="3150000"/>
            <a:ext cx="3666744" cy="2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43984" y="3332880"/>
            <a:ext cx="3300984" cy="4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96C7"/>
                </a:solidFill>
              </a:rPr>
              <a:t>ArgoCD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43984" y="3830000"/>
            <a:ext cx="3300984" cy="18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Watches git. The moment a tag changes in zen-gitops, it syncs the Helm chart to EKS. No kubectl apply needed.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56448" y="3150000"/>
            <a:ext cx="3666744" cy="2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9328" y="3332880"/>
            <a:ext cx="3300984" cy="4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96C7"/>
                </a:solidFill>
              </a:rPr>
              <a:t>GitOps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8" y="3830000"/>
            <a:ext cx="3300984" cy="18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Git is the source of truth. Every deploy is a git commit — reviewable, reversible, and fully auditable.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050000"/>
            <a:ext cx="12188952" cy="700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100000"/>
            <a:ext cx="11457432" cy="6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Zero manual kubectl.  Zero SSH into servers.  The image your CI built is exactly what runs in prod.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PIPELINE — SECRETS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about secrets?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The DB password can't live in zen-gitops. Git is public-ish.</a:t>
            </a:r>
          </a:p>
        </p:txBody>
      </p:sp>
      <p:sp>
        <p:nvSpPr>
          <p:cNvPr id="7" name="sec_box_0"/>
          <p:cNvSpPr/>
          <p:nvPr/>
        </p:nvSpPr>
        <p:spPr>
          <a:xfrm>
            <a:off x="365760" y="2103120"/>
            <a:ext cx="2754630" cy="25603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ec_head_0"/>
          <p:cNvSpPr txBox="1"/>
          <p:nvPr/>
        </p:nvSpPr>
        <p:spPr>
          <a:xfrm>
            <a:off x="365760" y="2240280"/>
            <a:ext cx="27546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AWS Secrets
Manager</a:t>
            </a:r>
          </a:p>
        </p:txBody>
      </p:sp>
      <p:sp>
        <p:nvSpPr>
          <p:cNvPr id="9" name="sec_body_0"/>
          <p:cNvSpPr txBox="1"/>
          <p:nvPr/>
        </p:nvSpPr>
        <p:spPr>
          <a:xfrm>
            <a:off x="365760" y="3246120"/>
            <a:ext cx="275463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Source of truth
for secret values</a:t>
            </a:r>
          </a:p>
        </p:txBody>
      </p:sp>
      <p:sp>
        <p:nvSpPr>
          <p:cNvPr id="10" name="sec_box_1"/>
          <p:cNvSpPr/>
          <p:nvPr/>
        </p:nvSpPr>
        <p:spPr>
          <a:xfrm>
            <a:off x="3257550" y="2103120"/>
            <a:ext cx="2754630" cy="25603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ec_head_1"/>
          <p:cNvSpPr txBox="1"/>
          <p:nvPr/>
        </p:nvSpPr>
        <p:spPr>
          <a:xfrm>
            <a:off x="3257550" y="2240280"/>
            <a:ext cx="27546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External Secrets
Operator (ESO)</a:t>
            </a:r>
          </a:p>
        </p:txBody>
      </p:sp>
      <p:sp>
        <p:nvSpPr>
          <p:cNvPr id="12" name="sec_body_1"/>
          <p:cNvSpPr txBox="1"/>
          <p:nvPr/>
        </p:nvSpPr>
        <p:spPr>
          <a:xfrm>
            <a:off x="3257550" y="3246120"/>
            <a:ext cx="275463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Watches a CRD in
your cluster</a:t>
            </a:r>
          </a:p>
        </p:txBody>
      </p:sp>
      <p:sp>
        <p:nvSpPr>
          <p:cNvPr id="13" name="sec_box_2"/>
          <p:cNvSpPr/>
          <p:nvPr/>
        </p:nvSpPr>
        <p:spPr>
          <a:xfrm>
            <a:off x="6149340" y="2103120"/>
            <a:ext cx="2754630" cy="25603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ec_head_2"/>
          <p:cNvSpPr txBox="1"/>
          <p:nvPr/>
        </p:nvSpPr>
        <p:spPr>
          <a:xfrm>
            <a:off x="6149340" y="2240280"/>
            <a:ext cx="27546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Kubernetes
Secret</a:t>
            </a:r>
          </a:p>
        </p:txBody>
      </p:sp>
      <p:sp>
        <p:nvSpPr>
          <p:cNvPr id="15" name="sec_body_2"/>
          <p:cNvSpPr txBox="1"/>
          <p:nvPr/>
        </p:nvSpPr>
        <p:spPr>
          <a:xfrm>
            <a:off x="6149340" y="3246120"/>
            <a:ext cx="275463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Auto-created by ESO
from AWS</a:t>
            </a:r>
          </a:p>
        </p:txBody>
      </p:sp>
      <p:sp>
        <p:nvSpPr>
          <p:cNvPr id="16" name="sec_box_3"/>
          <p:cNvSpPr/>
          <p:nvPr/>
        </p:nvSpPr>
        <p:spPr>
          <a:xfrm>
            <a:off x="9041130" y="2103120"/>
            <a:ext cx="2754630" cy="25603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ec_head_3"/>
          <p:cNvSpPr txBox="1"/>
          <p:nvPr/>
        </p:nvSpPr>
        <p:spPr>
          <a:xfrm>
            <a:off x="9041130" y="2240280"/>
            <a:ext cx="27546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auth-service
Pod</a:t>
            </a:r>
          </a:p>
        </p:txBody>
      </p:sp>
      <p:sp>
        <p:nvSpPr>
          <p:cNvPr id="18" name="sec_body_3"/>
          <p:cNvSpPr txBox="1"/>
          <p:nvPr/>
        </p:nvSpPr>
        <p:spPr>
          <a:xfrm>
            <a:off x="9041130" y="3246120"/>
            <a:ext cx="275463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Mounts the Secret
as env vars</a:t>
            </a:r>
          </a:p>
        </p:txBody>
      </p:sp>
      <p:sp>
        <p:nvSpPr>
          <p:cNvPr id="19" name="rules"/>
          <p:cNvSpPr txBox="1"/>
          <p:nvPr/>
        </p:nvSpPr>
        <p:spPr>
          <a:xfrm>
            <a:off x="548640" y="49377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Only ESO config (a CRD) lives in zen-gitops — never the password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Rotate the secret in AWS → ESO refreshes the K8s Secret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auth-service pod picks it up on restart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PIPELINE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Box 7 — The pod is running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Three green lights. This is what 'deployed' looks like.</a:t>
            </a:r>
          </a:p>
        </p:txBody>
      </p:sp>
      <p:sp>
        <p:nvSpPr>
          <p:cNvPr id="7" name="chk_num_bg_0"/>
          <p:cNvSpPr/>
          <p:nvPr/>
        </p:nvSpPr>
        <p:spPr>
          <a:xfrm>
            <a:off x="548640" y="2011680"/>
            <a:ext cx="731520" cy="1188720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hk_check_0"/>
          <p:cNvSpPr txBox="1"/>
          <p:nvPr/>
        </p:nvSpPr>
        <p:spPr>
          <a:xfrm>
            <a:off x="548640" y="22402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chk_cmd_0_bg"/>
          <p:cNvSpPr/>
          <p:nvPr/>
        </p:nvSpPr>
        <p:spPr>
          <a:xfrm>
            <a:off x="1554480" y="2011680"/>
            <a:ext cx="594360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k_cmd_0"/>
          <p:cNvSpPr txBox="1"/>
          <p:nvPr/>
        </p:nvSpPr>
        <p:spPr>
          <a:xfrm>
            <a:off x="1691639" y="2103120"/>
            <a:ext cx="56692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Menlo"/>
              </a:rPr>
              <a:t>kubectl get pods -n dev</a:t>
            </a:r>
          </a:p>
        </p:txBody>
      </p:sp>
      <p:sp>
        <p:nvSpPr>
          <p:cNvPr id="11" name="chk_out_0_bg"/>
          <p:cNvSpPr/>
          <p:nvPr/>
        </p:nvSpPr>
        <p:spPr>
          <a:xfrm>
            <a:off x="7680960" y="2011680"/>
            <a:ext cx="39319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hk_out_0"/>
          <p:cNvSpPr txBox="1"/>
          <p:nvPr/>
        </p:nvSpPr>
        <p:spPr>
          <a:xfrm>
            <a:off x="7818120" y="2103120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Menlo"/>
              </a:rPr>
              <a:t>auth-service-7c9...   1/1   Running</a:t>
            </a:r>
          </a:p>
        </p:txBody>
      </p:sp>
      <p:sp>
        <p:nvSpPr>
          <p:cNvPr id="13" name="chk_caption_0"/>
          <p:cNvSpPr txBox="1"/>
          <p:nvPr/>
        </p:nvSpPr>
        <p:spPr>
          <a:xfrm>
            <a:off x="15544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55"/>
                </a:solidFill>
              </a:rPr>
              <a:t>pod ready</a:t>
            </a:r>
          </a:p>
        </p:txBody>
      </p:sp>
      <p:sp>
        <p:nvSpPr>
          <p:cNvPr id="14" name="chk_num_bg_1"/>
          <p:cNvSpPr/>
          <p:nvPr/>
        </p:nvSpPr>
        <p:spPr>
          <a:xfrm>
            <a:off x="548640" y="3383280"/>
            <a:ext cx="731520" cy="1188720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hk_check_1"/>
          <p:cNvSpPr txBox="1"/>
          <p:nvPr/>
        </p:nvSpPr>
        <p:spPr>
          <a:xfrm>
            <a:off x="548640" y="3611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chk_cmd_1_bg"/>
          <p:cNvSpPr/>
          <p:nvPr/>
        </p:nvSpPr>
        <p:spPr>
          <a:xfrm>
            <a:off x="1554480" y="3383280"/>
            <a:ext cx="594360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k_cmd_1"/>
          <p:cNvSpPr txBox="1"/>
          <p:nvPr/>
        </p:nvSpPr>
        <p:spPr>
          <a:xfrm>
            <a:off x="1691639" y="3474720"/>
            <a:ext cx="56692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Menlo"/>
              </a:rPr>
              <a:t>argocd app get auth-service-dev</a:t>
            </a:r>
          </a:p>
        </p:txBody>
      </p:sp>
      <p:sp>
        <p:nvSpPr>
          <p:cNvPr id="18" name="chk_out_1_bg"/>
          <p:cNvSpPr/>
          <p:nvPr/>
        </p:nvSpPr>
        <p:spPr>
          <a:xfrm>
            <a:off x="7680960" y="3383280"/>
            <a:ext cx="39319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hk_out_1"/>
          <p:cNvSpPr txBox="1"/>
          <p:nvPr/>
        </p:nvSpPr>
        <p:spPr>
          <a:xfrm>
            <a:off x="7818120" y="3474720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Menlo"/>
              </a:rPr>
              <a:t>Sync: Synced    Health: Healthy</a:t>
            </a:r>
          </a:p>
        </p:txBody>
      </p:sp>
      <p:sp>
        <p:nvSpPr>
          <p:cNvPr id="20" name="chk_caption_1"/>
          <p:cNvSpPr txBox="1"/>
          <p:nvPr/>
        </p:nvSpPr>
        <p:spPr>
          <a:xfrm>
            <a:off x="155448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55"/>
                </a:solidFill>
              </a:rPr>
              <a:t>ArgoCD green</a:t>
            </a:r>
          </a:p>
        </p:txBody>
      </p:sp>
      <p:sp>
        <p:nvSpPr>
          <p:cNvPr id="21" name="chk_num_bg_2"/>
          <p:cNvSpPr/>
          <p:nvPr/>
        </p:nvSpPr>
        <p:spPr>
          <a:xfrm>
            <a:off x="548640" y="4754880"/>
            <a:ext cx="731520" cy="1188720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hk_check_2"/>
          <p:cNvSpPr txBox="1"/>
          <p:nvPr/>
        </p:nvSpPr>
        <p:spPr>
          <a:xfrm>
            <a:off x="548640" y="4983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chk_cmd_2_bg"/>
          <p:cNvSpPr/>
          <p:nvPr/>
        </p:nvSpPr>
        <p:spPr>
          <a:xfrm>
            <a:off x="1554480" y="4754880"/>
            <a:ext cx="594360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hk_cmd_2"/>
          <p:cNvSpPr txBox="1"/>
          <p:nvPr/>
        </p:nvSpPr>
        <p:spPr>
          <a:xfrm>
            <a:off x="1691639" y="4846320"/>
            <a:ext cx="56692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Menlo"/>
              </a:rPr>
              <a:t>curl http://&lt;alb-dns&gt;/auth/health</a:t>
            </a:r>
          </a:p>
        </p:txBody>
      </p:sp>
      <p:sp>
        <p:nvSpPr>
          <p:cNvPr id="25" name="chk_out_2_bg"/>
          <p:cNvSpPr/>
          <p:nvPr/>
        </p:nvSpPr>
        <p:spPr>
          <a:xfrm>
            <a:off x="7680960" y="4754880"/>
            <a:ext cx="39319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hk_out_2"/>
          <p:cNvSpPr txBox="1"/>
          <p:nvPr/>
        </p:nvSpPr>
        <p:spPr>
          <a:xfrm>
            <a:off x="7818120" y="4846320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Menlo"/>
              </a:rPr>
              <a:t>{"status":"UP"}    HTTP/1.1 200</a:t>
            </a:r>
          </a:p>
        </p:txBody>
      </p:sp>
      <p:sp>
        <p:nvSpPr>
          <p:cNvPr id="27" name="chk_caption_2"/>
          <p:cNvSpPr txBox="1"/>
          <p:nvPr/>
        </p:nvSpPr>
        <p:spPr>
          <a:xfrm>
            <a:off x="155448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55"/>
                </a:solidFill>
              </a:rPr>
              <a:t>endpoint live</a:t>
            </a:r>
          </a:p>
        </p:txBody>
      </p:sp>
      <p:sp>
        <p:nvSpPr>
          <p:cNvPr id="28" name="closing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1A2B4A"/>
                </a:solidFill>
              </a:rPr>
              <a:t>Every box on slide 2 — now real.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PIPELINE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full pipeline, in one picture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Same diagram as slide 2 — now everything inside it is concrete.</a:t>
            </a:r>
          </a:p>
        </p:txBody>
      </p:sp>
      <p:sp>
        <p:nvSpPr>
          <p:cNvPr id="7" name="pipe_box_0"/>
          <p:cNvSpPr/>
          <p:nvPr/>
        </p:nvSpPr>
        <p:spPr>
          <a:xfrm>
            <a:off x="365760" y="2194560"/>
            <a:ext cx="1515291" cy="90525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ipe_label_0"/>
          <p:cNvSpPr txBox="1"/>
          <p:nvPr/>
        </p:nvSpPr>
        <p:spPr>
          <a:xfrm>
            <a:off x="365760" y="2240279"/>
            <a:ext cx="151529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Code push</a:t>
            </a:r>
          </a:p>
        </p:txBody>
      </p:sp>
      <p:sp>
        <p:nvSpPr>
          <p:cNvPr id="9" name="pipe_tool_0"/>
          <p:cNvSpPr txBox="1"/>
          <p:nvPr/>
        </p:nvSpPr>
        <p:spPr>
          <a:xfrm>
            <a:off x="365760" y="3182112"/>
            <a:ext cx="151529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Git</a:t>
            </a:r>
          </a:p>
        </p:txBody>
      </p:sp>
      <p:sp>
        <p:nvSpPr>
          <p:cNvPr id="10" name="pipe_box_1"/>
          <p:cNvSpPr/>
          <p:nvPr/>
        </p:nvSpPr>
        <p:spPr>
          <a:xfrm>
            <a:off x="2018211" y="2194560"/>
            <a:ext cx="1515291" cy="90525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ipe_label_1"/>
          <p:cNvSpPr txBox="1"/>
          <p:nvPr/>
        </p:nvSpPr>
        <p:spPr>
          <a:xfrm>
            <a:off x="2018211" y="2240279"/>
            <a:ext cx="151529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CI builds image</a:t>
            </a:r>
          </a:p>
        </p:txBody>
      </p:sp>
      <p:sp>
        <p:nvSpPr>
          <p:cNvPr id="12" name="pipe_tool_1"/>
          <p:cNvSpPr txBox="1"/>
          <p:nvPr/>
        </p:nvSpPr>
        <p:spPr>
          <a:xfrm>
            <a:off x="2018211" y="3182112"/>
            <a:ext cx="151529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Jenkins</a:t>
            </a:r>
          </a:p>
        </p:txBody>
      </p:sp>
      <p:sp>
        <p:nvSpPr>
          <p:cNvPr id="13" name="pipe_box_2"/>
          <p:cNvSpPr/>
          <p:nvPr/>
        </p:nvSpPr>
        <p:spPr>
          <a:xfrm>
            <a:off x="3670662" y="2194560"/>
            <a:ext cx="1515291" cy="90525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ipe_label_2"/>
          <p:cNvSpPr txBox="1"/>
          <p:nvPr/>
        </p:nvSpPr>
        <p:spPr>
          <a:xfrm>
            <a:off x="3670662" y="2240279"/>
            <a:ext cx="151529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Image stored</a:t>
            </a:r>
          </a:p>
        </p:txBody>
      </p:sp>
      <p:sp>
        <p:nvSpPr>
          <p:cNvPr id="15" name="pipe_tool_2"/>
          <p:cNvSpPr txBox="1"/>
          <p:nvPr/>
        </p:nvSpPr>
        <p:spPr>
          <a:xfrm>
            <a:off x="3670662" y="3182112"/>
            <a:ext cx="151529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ECR</a:t>
            </a:r>
          </a:p>
        </p:txBody>
      </p:sp>
      <p:sp>
        <p:nvSpPr>
          <p:cNvPr id="16" name="pipe_box_3"/>
          <p:cNvSpPr/>
          <p:nvPr/>
        </p:nvSpPr>
        <p:spPr>
          <a:xfrm>
            <a:off x="5323114" y="2194560"/>
            <a:ext cx="1515291" cy="90525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ipe_label_3"/>
          <p:cNvSpPr txBox="1"/>
          <p:nvPr/>
        </p:nvSpPr>
        <p:spPr>
          <a:xfrm>
            <a:off x="5323114" y="2240279"/>
            <a:ext cx="151529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Bot updates repo</a:t>
            </a:r>
          </a:p>
        </p:txBody>
      </p:sp>
      <p:sp>
        <p:nvSpPr>
          <p:cNvPr id="18" name="pipe_tool_3"/>
          <p:cNvSpPr txBox="1"/>
          <p:nvPr/>
        </p:nvSpPr>
        <p:spPr>
          <a:xfrm>
            <a:off x="5323114" y="3182112"/>
            <a:ext cx="151529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zen-gitops</a:t>
            </a:r>
          </a:p>
        </p:txBody>
      </p:sp>
      <p:sp>
        <p:nvSpPr>
          <p:cNvPr id="19" name="pipe_box_4"/>
          <p:cNvSpPr/>
          <p:nvPr/>
        </p:nvSpPr>
        <p:spPr>
          <a:xfrm>
            <a:off x="6975565" y="2194560"/>
            <a:ext cx="1515291" cy="90525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ipe_label_4"/>
          <p:cNvSpPr txBox="1"/>
          <p:nvPr/>
        </p:nvSpPr>
        <p:spPr>
          <a:xfrm>
            <a:off x="6975565" y="2240279"/>
            <a:ext cx="151529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ArgoCD detects</a:t>
            </a:r>
          </a:p>
        </p:txBody>
      </p:sp>
      <p:sp>
        <p:nvSpPr>
          <p:cNvPr id="21" name="pipe_tool_4"/>
          <p:cNvSpPr txBox="1"/>
          <p:nvPr/>
        </p:nvSpPr>
        <p:spPr>
          <a:xfrm>
            <a:off x="6975565" y="3182112"/>
            <a:ext cx="151529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ArgoCD</a:t>
            </a:r>
          </a:p>
        </p:txBody>
      </p:sp>
      <p:sp>
        <p:nvSpPr>
          <p:cNvPr id="22" name="pipe_box_5"/>
          <p:cNvSpPr/>
          <p:nvPr/>
        </p:nvSpPr>
        <p:spPr>
          <a:xfrm>
            <a:off x="8628017" y="2194560"/>
            <a:ext cx="1515291" cy="90525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pipe_label_5"/>
          <p:cNvSpPr txBox="1"/>
          <p:nvPr/>
        </p:nvSpPr>
        <p:spPr>
          <a:xfrm>
            <a:off x="8628017" y="2240279"/>
            <a:ext cx="151529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Render manifests</a:t>
            </a:r>
          </a:p>
        </p:txBody>
      </p:sp>
      <p:sp>
        <p:nvSpPr>
          <p:cNvPr id="24" name="pipe_tool_5"/>
          <p:cNvSpPr txBox="1"/>
          <p:nvPr/>
        </p:nvSpPr>
        <p:spPr>
          <a:xfrm>
            <a:off x="8628017" y="3182112"/>
            <a:ext cx="151529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Helm</a:t>
            </a:r>
          </a:p>
        </p:txBody>
      </p:sp>
      <p:sp>
        <p:nvSpPr>
          <p:cNvPr id="25" name="pipe_box_6"/>
          <p:cNvSpPr/>
          <p:nvPr/>
        </p:nvSpPr>
        <p:spPr>
          <a:xfrm>
            <a:off x="10280468" y="2194560"/>
            <a:ext cx="1515291" cy="90525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ipe_label_6"/>
          <p:cNvSpPr txBox="1"/>
          <p:nvPr/>
        </p:nvSpPr>
        <p:spPr>
          <a:xfrm>
            <a:off x="10280468" y="2240279"/>
            <a:ext cx="151529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Pod running</a:t>
            </a:r>
          </a:p>
        </p:txBody>
      </p:sp>
      <p:sp>
        <p:nvSpPr>
          <p:cNvPr id="27" name="pipe_tool_6"/>
          <p:cNvSpPr txBox="1"/>
          <p:nvPr/>
        </p:nvSpPr>
        <p:spPr>
          <a:xfrm>
            <a:off x="10280468" y="3182112"/>
            <a:ext cx="151529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EKS</a:t>
            </a:r>
          </a:p>
        </p:txBody>
      </p:sp>
      <p:sp>
        <p:nvSpPr>
          <p:cNvPr id="28" name="ann_0"/>
          <p:cNvSpPr txBox="1"/>
          <p:nvPr/>
        </p:nvSpPr>
        <p:spPr>
          <a:xfrm>
            <a:off x="365760" y="4206240"/>
            <a:ext cx="1515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9C5A"/>
                </a:solidFill>
              </a:rPr>
              <a:t>PR diff</a:t>
            </a:r>
          </a:p>
        </p:txBody>
      </p:sp>
      <p:sp>
        <p:nvSpPr>
          <p:cNvPr id="29" name="ann_1"/>
          <p:cNvSpPr txBox="1"/>
          <p:nvPr/>
        </p:nvSpPr>
        <p:spPr>
          <a:xfrm>
            <a:off x="2018211" y="4206240"/>
            <a:ext cx="1515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9C5A"/>
                </a:solidFill>
              </a:rPr>
              <a:t>Jenkins green</a:t>
            </a:r>
          </a:p>
        </p:txBody>
      </p:sp>
      <p:sp>
        <p:nvSpPr>
          <p:cNvPr id="30" name="ann_2"/>
          <p:cNvSpPr txBox="1"/>
          <p:nvPr/>
        </p:nvSpPr>
        <p:spPr>
          <a:xfrm>
            <a:off x="3670662" y="4206240"/>
            <a:ext cx="1515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9C5A"/>
                </a:solidFill>
              </a:rPr>
              <a:t>Image in ECR</a:t>
            </a:r>
          </a:p>
        </p:txBody>
      </p:sp>
      <p:sp>
        <p:nvSpPr>
          <p:cNvPr id="31" name="ann_3"/>
          <p:cNvSpPr txBox="1"/>
          <p:nvPr/>
        </p:nvSpPr>
        <p:spPr>
          <a:xfrm>
            <a:off x="5323114" y="4206240"/>
            <a:ext cx="1515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9C5A"/>
                </a:solidFill>
              </a:rPr>
              <a:t>values.yaml bumped</a:t>
            </a:r>
          </a:p>
        </p:txBody>
      </p:sp>
      <p:sp>
        <p:nvSpPr>
          <p:cNvPr id="32" name="ann_4"/>
          <p:cNvSpPr txBox="1"/>
          <p:nvPr/>
        </p:nvSpPr>
        <p:spPr>
          <a:xfrm>
            <a:off x="6975565" y="4206240"/>
            <a:ext cx="1515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9C5A"/>
                </a:solidFill>
              </a:rPr>
              <a:t>App Synced</a:t>
            </a:r>
          </a:p>
        </p:txBody>
      </p:sp>
      <p:sp>
        <p:nvSpPr>
          <p:cNvPr id="33" name="ann_5"/>
          <p:cNvSpPr txBox="1"/>
          <p:nvPr/>
        </p:nvSpPr>
        <p:spPr>
          <a:xfrm>
            <a:off x="8628017" y="4206240"/>
            <a:ext cx="1515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9C5A"/>
                </a:solidFill>
              </a:rPr>
              <a:t>Manifests rendered</a:t>
            </a:r>
          </a:p>
        </p:txBody>
      </p:sp>
      <p:sp>
        <p:nvSpPr>
          <p:cNvPr id="34" name="ann_6"/>
          <p:cNvSpPr txBox="1"/>
          <p:nvPr/>
        </p:nvSpPr>
        <p:spPr>
          <a:xfrm>
            <a:off x="10280468" y="4206240"/>
            <a:ext cx="1515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9C5A"/>
                </a:solidFill>
              </a:rPr>
              <a:t>Pod 1/1 Ready</a:t>
            </a:r>
          </a:p>
        </p:txBody>
      </p:sp>
      <p:sp>
        <p:nvSpPr>
          <p:cNvPr id="35" name="bridge"/>
          <p:cNvSpPr txBox="1"/>
          <p:nvPr/>
        </p:nvSpPr>
        <p:spPr>
          <a:xfrm>
            <a:off x="365760" y="54864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B4A"/>
                </a:solidFill>
              </a:rPr>
              <a:t>Everything you just saw, for one service. Now we scale.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SCALING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Now scale to 9 services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auth-service works. How do we ship the other 8?</a:t>
            </a:r>
          </a:p>
        </p:txBody>
      </p:sp>
      <p:sp>
        <p:nvSpPr>
          <p:cNvPr id="7" name="bad_head"/>
          <p:cNvSpPr txBox="1"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53E3E"/>
                </a:solidFill>
              </a:rPr>
              <a:t>Bad answers we won't use:</a:t>
            </a:r>
          </a:p>
        </p:txBody>
      </p:sp>
      <p:sp>
        <p:nvSpPr>
          <p:cNvPr id="8" name="bad_list"/>
          <p:cNvSpPr txBox="1"/>
          <p:nvPr/>
        </p:nvSpPr>
        <p:spPr>
          <a:xfrm>
            <a:off x="548640" y="256032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1A2B4A"/>
                </a:solidFill>
              </a:rPr>
              <a:t>• Copy the Argo Application 9 times by hand for each release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2B4A"/>
                </a:solidFill>
              </a:rPr>
              <a:t>• Maintain 9 separate Helm charts that drift from each other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2B4A"/>
                </a:solidFill>
              </a:rPr>
              <a:t>• Click 'Sync' in the UI for each service every time</a:t>
            </a:r>
          </a:p>
        </p:txBody>
      </p:sp>
      <p:sp>
        <p:nvSpPr>
          <p:cNvPr id="9" name="good_head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9C5A"/>
                </a:solidFill>
              </a:rPr>
              <a:t>Good answer:</a:t>
            </a:r>
          </a:p>
        </p:txBody>
      </p:sp>
      <p:sp>
        <p:nvSpPr>
          <p:cNvPr id="10" name="good_list"/>
          <p:cNvSpPr txBox="1"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1A2B4A"/>
                </a:solidFill>
              </a:rPr>
              <a:t>• Repeat the same folder structure — one chart, one values file, one Application per (service × env)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2B4A"/>
                </a:solidFill>
              </a:rPr>
              <a:t>• Let Git review handle the per-release deltas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A2B4A"/>
                </a:solidFill>
              </a:rPr>
              <a:t>• Let ArgoCD's automated sync handle the cluster updates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SCALING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Repo layout for 9 services × 3 envs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Three folders, each repeating the same shape.</a:t>
            </a:r>
          </a:p>
        </p:txBody>
      </p:sp>
      <p:sp>
        <p:nvSpPr>
          <p:cNvPr id="7" name="tree_head_0"/>
          <p:cNvSpPr txBox="1"/>
          <p:nvPr/>
        </p:nvSpPr>
        <p:spPr>
          <a:xfrm>
            <a:off x="365760" y="1874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helm-charts/  (9 charts)</a:t>
            </a:r>
          </a:p>
        </p:txBody>
      </p:sp>
      <p:sp>
        <p:nvSpPr>
          <p:cNvPr id="8" name="tree_0_bg"/>
          <p:cNvSpPr/>
          <p:nvPr/>
        </p:nvSpPr>
        <p:spPr>
          <a:xfrm>
            <a:off x="365760" y="2286000"/>
            <a:ext cx="36576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ree_0"/>
          <p:cNvSpPr txBox="1"/>
          <p:nvPr/>
        </p:nvSpPr>
        <p:spPr>
          <a:xfrm>
            <a:off x="502920" y="237744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helm-charts/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auth-service/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api-gateway/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catalog-service/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inventory-service/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manufacturing-service/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qc-service/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supplier-service/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notification-service/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└── pharma-ui/</a:t>
            </a:r>
          </a:p>
        </p:txBody>
      </p:sp>
      <p:sp>
        <p:nvSpPr>
          <p:cNvPr id="10" name="tree_head_1"/>
          <p:cNvSpPr txBox="1"/>
          <p:nvPr/>
        </p:nvSpPr>
        <p:spPr>
          <a:xfrm>
            <a:off x="4160520" y="1874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envs/  (9 × 3 values files)</a:t>
            </a:r>
          </a:p>
        </p:txBody>
      </p:sp>
      <p:sp>
        <p:nvSpPr>
          <p:cNvPr id="11" name="tree_1_bg"/>
          <p:cNvSpPr/>
          <p:nvPr/>
        </p:nvSpPr>
        <p:spPr>
          <a:xfrm>
            <a:off x="4160520" y="2286000"/>
            <a:ext cx="36576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ree_1"/>
          <p:cNvSpPr txBox="1"/>
          <p:nvPr/>
        </p:nvSpPr>
        <p:spPr>
          <a:xfrm>
            <a:off x="4297680" y="237744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envs/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dev/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│   ├── values-auth-service.yaml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│   ├── values-api-gateway.yaml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│   └── ... (7 more)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qa/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│   └── ... (9 files)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└── prod/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└── ... (9 files)</a:t>
            </a:r>
          </a:p>
        </p:txBody>
      </p:sp>
      <p:sp>
        <p:nvSpPr>
          <p:cNvPr id="13" name="tree_head_2"/>
          <p:cNvSpPr txBox="1"/>
          <p:nvPr/>
        </p:nvSpPr>
        <p:spPr>
          <a:xfrm>
            <a:off x="7955280" y="1874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argocd/apps/  (27 Applications)</a:t>
            </a:r>
          </a:p>
        </p:txBody>
      </p:sp>
      <p:sp>
        <p:nvSpPr>
          <p:cNvPr id="14" name="tree_2_bg"/>
          <p:cNvSpPr/>
          <p:nvPr/>
        </p:nvSpPr>
        <p:spPr>
          <a:xfrm>
            <a:off x="7955280" y="2286000"/>
            <a:ext cx="3657600" cy="3657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ree_2"/>
          <p:cNvSpPr txBox="1"/>
          <p:nvPr/>
        </p:nvSpPr>
        <p:spPr>
          <a:xfrm>
            <a:off x="8092440" y="237744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argocd/apps/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dev/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│   ├── auth-service-app.yaml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│   ├── api-gateway-app.yaml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│   └── ... (7 more)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qa/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│   └── ... (9 files)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└── prod/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└── ... (9 files)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365760" y="6172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44455"/>
                </a:solidFill>
              </a:rPr>
              <a:t>9 + 27 + 27 = 63 files. Boring on purpose.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SCALING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One Application per (service × env)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Real file from the repo: argocd/apps/prod/auth-service-app.yaml</a:t>
            </a:r>
          </a:p>
        </p:txBody>
      </p:sp>
      <p:sp>
        <p:nvSpPr>
          <p:cNvPr id="7" name="app_yaml_bg"/>
          <p:cNvSpPr/>
          <p:nvPr/>
        </p:nvSpPr>
        <p:spPr>
          <a:xfrm>
            <a:off x="548640" y="2011680"/>
            <a:ext cx="6858000" cy="41148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pp_yaml"/>
          <p:cNvSpPr txBox="1"/>
          <p:nvPr/>
        </p:nvSpPr>
        <p:spPr>
          <a:xfrm>
            <a:off x="685800" y="2103120"/>
            <a:ext cx="6583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Menlo"/>
              </a:rPr>
              <a:t>apiVersion: argoproj.io/v1alpha1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kind: Application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metadata: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name: auth-service-prod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labels: { env: prod, app: auth-service }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spec: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project: pharma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source: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repoURL: github.com/.../zen-gitops.git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path: helm-charts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helm: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  valueFiles: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    - ../envs/prod/values-auth-service.yaml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destination: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namespace: prod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syncPolicy: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  automated: { prune: true }</a:t>
            </a:r>
          </a:p>
        </p:txBody>
      </p:sp>
      <p:sp>
        <p:nvSpPr>
          <p:cNvPr id="9" name="why"/>
          <p:cNvSpPr txBox="1"/>
          <p:nvPr/>
        </p:nvSpPr>
        <p:spPr>
          <a:xfrm>
            <a:off x="7589520" y="22860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Same shape, 27 times — no generator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No ApplicationSet — easier to grep, diff, review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A new joiner reads ONE file and understands ONE deployment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2B4A"/>
                </a:solidFill>
              </a:rPr>
              <a:t>• Disable a single env? Delete one file. Done.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SCALING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you DON'T do per release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Most work was setup. Ongoing cost is tiny.</a:t>
            </a:r>
          </a:p>
        </p:txBody>
      </p:sp>
      <p:sp>
        <p:nvSpPr>
          <p:cNvPr id="7" name="cost_bg_0"/>
          <p:cNvSpPr/>
          <p:nvPr/>
        </p:nvSpPr>
        <p:spPr>
          <a:xfrm>
            <a:off x="365760" y="1920240"/>
            <a:ext cx="365760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D9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st_head_0"/>
          <p:cNvSpPr txBox="1"/>
          <p:nvPr/>
        </p:nvSpPr>
        <p:spPr>
          <a:xfrm>
            <a:off x="36576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9C5A"/>
                </a:solidFill>
              </a:rPr>
              <a:t>Already done (once)</a:t>
            </a:r>
          </a:p>
        </p:txBody>
      </p:sp>
      <p:sp>
        <p:nvSpPr>
          <p:cNvPr id="9" name="cost_items_0"/>
          <p:cNvSpPr txBox="1"/>
          <p:nvPr/>
        </p:nvSpPr>
        <p:spPr>
          <a:xfrm>
            <a:off x="548640" y="260604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EKS cluster provisioned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ArgoCD installed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ESO + IRSA configured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ECR repos created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Ingress controller up</a:t>
            </a:r>
          </a:p>
        </p:txBody>
      </p:sp>
      <p:sp>
        <p:nvSpPr>
          <p:cNvPr id="10" name="cost_bg_1"/>
          <p:cNvSpPr/>
          <p:nvPr/>
        </p:nvSpPr>
        <p:spPr>
          <a:xfrm>
            <a:off x="4160520" y="1920240"/>
            <a:ext cx="365760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ost_head_1"/>
          <p:cNvSpPr txBox="1"/>
          <p:nvPr/>
        </p:nvSpPr>
        <p:spPr>
          <a:xfrm>
            <a:off x="416052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96C7"/>
                </a:solidFill>
              </a:rPr>
              <a:t>Per service (once)</a:t>
            </a:r>
          </a:p>
        </p:txBody>
      </p:sp>
      <p:sp>
        <p:nvSpPr>
          <p:cNvPr id="12" name="cost_items_1"/>
          <p:cNvSpPr txBox="1"/>
          <p:nvPr/>
        </p:nvSpPr>
        <p:spPr>
          <a:xfrm>
            <a:off x="4343400" y="260604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Helm chart folder added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Baseline values.yaml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3 Application YAMLs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ExternalSecret mappings</a:t>
            </a:r>
          </a:p>
        </p:txBody>
      </p:sp>
      <p:sp>
        <p:nvSpPr>
          <p:cNvPr id="13" name="cost_bg_2"/>
          <p:cNvSpPr/>
          <p:nvPr/>
        </p:nvSpPr>
        <p:spPr>
          <a:xfrm>
            <a:off x="7955280" y="1920240"/>
            <a:ext cx="365760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ost_head_2"/>
          <p:cNvSpPr txBox="1"/>
          <p:nvPr/>
        </p:nvSpPr>
        <p:spPr>
          <a:xfrm>
            <a:off x="795528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B35"/>
                </a:solidFill>
              </a:rPr>
              <a:t>Per release (every time)</a:t>
            </a:r>
          </a:p>
        </p:txBody>
      </p:sp>
      <p:sp>
        <p:nvSpPr>
          <p:cNvPr id="15" name="cost_items_2"/>
          <p:cNvSpPr txBox="1"/>
          <p:nvPr/>
        </p:nvSpPr>
        <p:spPr>
          <a:xfrm>
            <a:off x="8138160" y="260604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Bump image.tag in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  envs/&lt;env&gt;/values-&lt;svc&gt;.yaml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Open PR. Merge.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ArgoCD does the rest.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REFERENCE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Commands you'll use daily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Bookmark this slide. Six commands cover 90% of the work.</a:t>
            </a:r>
          </a:p>
        </p:txBody>
      </p:sp>
      <p:sp>
        <p:nvSpPr>
          <p:cNvPr id="7" name="cmd_label_0"/>
          <p:cNvSpPr txBox="1"/>
          <p:nvPr/>
        </p:nvSpPr>
        <p:spPr>
          <a:xfrm>
            <a:off x="36576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C7"/>
                </a:solidFill>
              </a:rPr>
              <a:t>List pods in dev</a:t>
            </a:r>
          </a:p>
        </p:txBody>
      </p:sp>
      <p:sp>
        <p:nvSpPr>
          <p:cNvPr id="8" name="cmd_code_0_bg"/>
          <p:cNvSpPr/>
          <p:nvPr/>
        </p:nvSpPr>
        <p:spPr>
          <a:xfrm>
            <a:off x="365760" y="2468880"/>
            <a:ext cx="548640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md_code_0"/>
          <p:cNvSpPr txBox="1"/>
          <p:nvPr/>
        </p:nvSpPr>
        <p:spPr>
          <a:xfrm>
            <a:off x="502920" y="25603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Menlo"/>
              </a:rPr>
              <a:t>kubectl get pods -n dev</a:t>
            </a:r>
          </a:p>
        </p:txBody>
      </p:sp>
      <p:sp>
        <p:nvSpPr>
          <p:cNvPr id="10" name="cmd_label_1"/>
          <p:cNvSpPr txBox="1"/>
          <p:nvPr/>
        </p:nvSpPr>
        <p:spPr>
          <a:xfrm>
            <a:off x="612648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C7"/>
                </a:solidFill>
              </a:rPr>
              <a:t>Tail a pod's logs</a:t>
            </a:r>
          </a:p>
        </p:txBody>
      </p:sp>
      <p:sp>
        <p:nvSpPr>
          <p:cNvPr id="11" name="cmd_code_1_bg"/>
          <p:cNvSpPr/>
          <p:nvPr/>
        </p:nvSpPr>
        <p:spPr>
          <a:xfrm>
            <a:off x="6126480" y="2468880"/>
            <a:ext cx="548640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md_code_1"/>
          <p:cNvSpPr txBox="1"/>
          <p:nvPr/>
        </p:nvSpPr>
        <p:spPr>
          <a:xfrm>
            <a:off x="6263640" y="25603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Menlo"/>
              </a:rPr>
              <a:t>kubectl logs -f &lt;pod&gt; -n dev</a:t>
            </a:r>
          </a:p>
        </p:txBody>
      </p:sp>
      <p:sp>
        <p:nvSpPr>
          <p:cNvPr id="13" name="cmd_label_2"/>
          <p:cNvSpPr txBox="1"/>
          <p:nvPr/>
        </p:nvSpPr>
        <p:spPr>
          <a:xfrm>
            <a:off x="36576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C7"/>
                </a:solidFill>
              </a:rPr>
              <a:t>List ArgoCD apps</a:t>
            </a:r>
          </a:p>
        </p:txBody>
      </p:sp>
      <p:sp>
        <p:nvSpPr>
          <p:cNvPr id="14" name="cmd_code_2_bg"/>
          <p:cNvSpPr/>
          <p:nvPr/>
        </p:nvSpPr>
        <p:spPr>
          <a:xfrm>
            <a:off x="365760" y="3931920"/>
            <a:ext cx="548640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md_code_2"/>
          <p:cNvSpPr txBox="1"/>
          <p:nvPr/>
        </p:nvSpPr>
        <p:spPr>
          <a:xfrm>
            <a:off x="502920" y="40233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Menlo"/>
              </a:rPr>
              <a:t>argocd app list</a:t>
            </a:r>
          </a:p>
        </p:txBody>
      </p:sp>
      <p:sp>
        <p:nvSpPr>
          <p:cNvPr id="16" name="cmd_label_3"/>
          <p:cNvSpPr txBox="1"/>
          <p:nvPr/>
        </p:nvSpPr>
        <p:spPr>
          <a:xfrm>
            <a:off x="612648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C7"/>
                </a:solidFill>
              </a:rPr>
              <a:t>Force sync one app</a:t>
            </a:r>
          </a:p>
        </p:txBody>
      </p:sp>
      <p:sp>
        <p:nvSpPr>
          <p:cNvPr id="17" name="cmd_code_3_bg"/>
          <p:cNvSpPr/>
          <p:nvPr/>
        </p:nvSpPr>
        <p:spPr>
          <a:xfrm>
            <a:off x="6126480" y="3931920"/>
            <a:ext cx="548640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md_code_3"/>
          <p:cNvSpPr txBox="1"/>
          <p:nvPr/>
        </p:nvSpPr>
        <p:spPr>
          <a:xfrm>
            <a:off x="6263640" y="40233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Menlo"/>
              </a:rPr>
              <a:t>argocd app sync auth-service-dev</a:t>
            </a:r>
          </a:p>
        </p:txBody>
      </p:sp>
      <p:sp>
        <p:nvSpPr>
          <p:cNvPr id="19" name="cmd_label_4"/>
          <p:cNvSpPr txBox="1"/>
          <p:nvPr/>
        </p:nvSpPr>
        <p:spPr>
          <a:xfrm>
            <a:off x="36576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C7"/>
                </a:solidFill>
              </a:rPr>
              <a:t>Render chart locally</a:t>
            </a:r>
          </a:p>
        </p:txBody>
      </p:sp>
      <p:sp>
        <p:nvSpPr>
          <p:cNvPr id="20" name="cmd_code_4_bg"/>
          <p:cNvSpPr/>
          <p:nvPr/>
        </p:nvSpPr>
        <p:spPr>
          <a:xfrm>
            <a:off x="365760" y="5394960"/>
            <a:ext cx="548640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md_code_4"/>
          <p:cNvSpPr txBox="1"/>
          <p:nvPr/>
        </p:nvSpPr>
        <p:spPr>
          <a:xfrm>
            <a:off x="502920" y="54864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Menlo"/>
              </a:rPr>
              <a:t>helm template ./helm-charts/auth-service \</a:t>
            </a:r>
          </a:p>
          <a:p>
            <a:r>
              <a:rPr sz="1200">
                <a:solidFill>
                  <a:srgbClr val="FFFFFF"/>
                </a:solidFill>
                <a:latin typeface="Menlo"/>
              </a:rPr>
              <a:t>  -f envs/dev/values-auth-service.yaml</a:t>
            </a:r>
          </a:p>
        </p:txBody>
      </p:sp>
      <p:sp>
        <p:nvSpPr>
          <p:cNvPr id="22" name="cmd_label_5"/>
          <p:cNvSpPr txBox="1"/>
          <p:nvPr/>
        </p:nvSpPr>
        <p:spPr>
          <a:xfrm>
            <a:off x="612648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C7"/>
                </a:solidFill>
              </a:rPr>
              <a:t>Inspect an ExternalSecret</a:t>
            </a:r>
          </a:p>
        </p:txBody>
      </p:sp>
      <p:sp>
        <p:nvSpPr>
          <p:cNvPr id="23" name="cmd_code_5_bg"/>
          <p:cNvSpPr/>
          <p:nvPr/>
        </p:nvSpPr>
        <p:spPr>
          <a:xfrm>
            <a:off x="6126480" y="5394960"/>
            <a:ext cx="548640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md_code_5"/>
          <p:cNvSpPr txBox="1"/>
          <p:nvPr/>
        </p:nvSpPr>
        <p:spPr>
          <a:xfrm>
            <a:off x="6263640" y="54864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Menlo"/>
              </a:rPr>
              <a:t>kubectl describe externalsecret auth-db -n dev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REFERENCE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Troubleshooting: 4 failures, 4 first moves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When something is red, here's where you look first.</a:t>
            </a:r>
          </a:p>
        </p:txBody>
      </p:sp>
      <p:sp>
        <p:nvSpPr>
          <p:cNvPr id="7" name="th_sym_bg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h_chk_bg"/>
          <p:cNvSpPr/>
          <p:nvPr/>
        </p:nvSpPr>
        <p:spPr>
          <a:xfrm>
            <a:off x="4297680" y="2011680"/>
            <a:ext cx="740664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h_sym"/>
          <p:cNvSpPr txBox="1"/>
          <p:nvPr/>
        </p:nvSpPr>
        <p:spPr>
          <a:xfrm>
            <a:off x="548640" y="2057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Symptom</a:t>
            </a:r>
          </a:p>
        </p:txBody>
      </p:sp>
      <p:sp>
        <p:nvSpPr>
          <p:cNvPr id="10" name="th_chk"/>
          <p:cNvSpPr txBox="1"/>
          <p:nvPr/>
        </p:nvSpPr>
        <p:spPr>
          <a:xfrm>
            <a:off x="4297680" y="20574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First check</a:t>
            </a:r>
          </a:p>
        </p:txBody>
      </p:sp>
      <p:sp>
        <p:nvSpPr>
          <p:cNvPr id="11" name="row_sym_bg_0"/>
          <p:cNvSpPr/>
          <p:nvPr/>
        </p:nvSpPr>
        <p:spPr>
          <a:xfrm>
            <a:off x="548640" y="2468880"/>
            <a:ext cx="3657600" cy="777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w_chk_bg_0"/>
          <p:cNvSpPr/>
          <p:nvPr/>
        </p:nvSpPr>
        <p:spPr>
          <a:xfrm>
            <a:off x="4297680" y="2468880"/>
            <a:ext cx="7406640" cy="777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w_sym_0"/>
          <p:cNvSpPr txBox="1"/>
          <p:nvPr/>
        </p:nvSpPr>
        <p:spPr>
          <a:xfrm>
            <a:off x="640080" y="2651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3E3E"/>
                </a:solidFill>
              </a:rPr>
              <a:t>Pod 0/1 Ready</a:t>
            </a:r>
          </a:p>
        </p:txBody>
      </p:sp>
      <p:sp>
        <p:nvSpPr>
          <p:cNvPr id="14" name="row_chk_0"/>
          <p:cNvSpPr txBox="1"/>
          <p:nvPr/>
        </p:nvSpPr>
        <p:spPr>
          <a:xfrm>
            <a:off x="4389120" y="265176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kubectl describe pod &lt;name&gt; — probe failing? secret mounted?</a:t>
            </a:r>
          </a:p>
        </p:txBody>
      </p:sp>
      <p:sp>
        <p:nvSpPr>
          <p:cNvPr id="15" name="row_sym_bg_1"/>
          <p:cNvSpPr/>
          <p:nvPr/>
        </p:nvSpPr>
        <p:spPr>
          <a:xfrm>
            <a:off x="548640" y="3291840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w_chk_bg_1"/>
          <p:cNvSpPr/>
          <p:nvPr/>
        </p:nvSpPr>
        <p:spPr>
          <a:xfrm>
            <a:off x="4297680" y="3291840"/>
            <a:ext cx="74066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w_sym_1"/>
          <p:cNvSpPr txBox="1"/>
          <p:nvPr/>
        </p:nvSpPr>
        <p:spPr>
          <a:xfrm>
            <a:off x="640080" y="3474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3E3E"/>
                </a:solidFill>
              </a:rPr>
              <a:t>ArgoCD OutOfSync</a:t>
            </a:r>
          </a:p>
        </p:txBody>
      </p:sp>
      <p:sp>
        <p:nvSpPr>
          <p:cNvPr id="18" name="row_chk_1"/>
          <p:cNvSpPr txBox="1"/>
          <p:nvPr/>
        </p:nvSpPr>
        <p:spPr>
          <a:xfrm>
            <a:off x="4389120" y="347472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Did the values.yaml PR actually merge? git log on zen-gitops.</a:t>
            </a:r>
          </a:p>
        </p:txBody>
      </p:sp>
      <p:sp>
        <p:nvSpPr>
          <p:cNvPr id="19" name="row_sym_bg_2"/>
          <p:cNvSpPr/>
          <p:nvPr/>
        </p:nvSpPr>
        <p:spPr>
          <a:xfrm>
            <a:off x="548640" y="4114800"/>
            <a:ext cx="3657600" cy="777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w_chk_bg_2"/>
          <p:cNvSpPr/>
          <p:nvPr/>
        </p:nvSpPr>
        <p:spPr>
          <a:xfrm>
            <a:off x="4297680" y="4114800"/>
            <a:ext cx="7406640" cy="777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w_sym_2"/>
          <p:cNvSpPr txBox="1"/>
          <p:nvPr/>
        </p:nvSpPr>
        <p:spPr>
          <a:xfrm>
            <a:off x="640080" y="4297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3E3E"/>
                </a:solidFill>
              </a:rPr>
              <a:t>ImagePullBackOff</a:t>
            </a:r>
          </a:p>
        </p:txBody>
      </p:sp>
      <p:sp>
        <p:nvSpPr>
          <p:cNvPr id="22" name="row_chk_2"/>
          <p:cNvSpPr txBox="1"/>
          <p:nvPr/>
        </p:nvSpPr>
        <p:spPr>
          <a:xfrm>
            <a:off x="4389120" y="429768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Does the image tag in values.yaml actually exist in ECR?</a:t>
            </a:r>
          </a:p>
        </p:txBody>
      </p:sp>
      <p:sp>
        <p:nvSpPr>
          <p:cNvPr id="23" name="row_sym_bg_3"/>
          <p:cNvSpPr/>
          <p:nvPr/>
        </p:nvSpPr>
        <p:spPr>
          <a:xfrm>
            <a:off x="548640" y="4937760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w_chk_bg_3"/>
          <p:cNvSpPr/>
          <p:nvPr/>
        </p:nvSpPr>
        <p:spPr>
          <a:xfrm>
            <a:off x="4297680" y="4937760"/>
            <a:ext cx="74066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w_sym_3"/>
          <p:cNvSpPr txBox="1"/>
          <p:nvPr/>
        </p:nvSpPr>
        <p:spPr>
          <a:xfrm>
            <a:off x="640080" y="5120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3E3E"/>
                </a:solidFill>
              </a:rPr>
              <a:t>CrashLoopBackOff</a:t>
            </a:r>
          </a:p>
        </p:txBody>
      </p:sp>
      <p:sp>
        <p:nvSpPr>
          <p:cNvPr id="26" name="row_chk_3"/>
          <p:cNvSpPr txBox="1"/>
          <p:nvPr/>
        </p:nvSpPr>
        <p:spPr>
          <a:xfrm>
            <a:off x="4389120" y="51206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kubectl logs --previous — usually a missing env var or secret.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_label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CLOSING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From code push to 200 OK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32004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Everything you've seen today, in one line.</a:t>
            </a:r>
          </a:p>
        </p:txBody>
      </p:sp>
      <p:sp>
        <p:nvSpPr>
          <p:cNvPr id="7" name="pipe_box_0"/>
          <p:cNvSpPr/>
          <p:nvPr/>
        </p:nvSpPr>
        <p:spPr>
          <a:xfrm>
            <a:off x="365760" y="2194560"/>
            <a:ext cx="1515291" cy="80467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ipe_label_0"/>
          <p:cNvSpPr txBox="1"/>
          <p:nvPr/>
        </p:nvSpPr>
        <p:spPr>
          <a:xfrm>
            <a:off x="365760" y="2240279"/>
            <a:ext cx="15152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Code push</a:t>
            </a:r>
          </a:p>
        </p:txBody>
      </p:sp>
      <p:sp>
        <p:nvSpPr>
          <p:cNvPr id="9" name="pipe_tool_0"/>
          <p:cNvSpPr txBox="1"/>
          <p:nvPr/>
        </p:nvSpPr>
        <p:spPr>
          <a:xfrm>
            <a:off x="365760" y="3072384"/>
            <a:ext cx="1515291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Git</a:t>
            </a:r>
          </a:p>
        </p:txBody>
      </p:sp>
      <p:sp>
        <p:nvSpPr>
          <p:cNvPr id="10" name="pipe_box_1"/>
          <p:cNvSpPr/>
          <p:nvPr/>
        </p:nvSpPr>
        <p:spPr>
          <a:xfrm>
            <a:off x="2018211" y="2194560"/>
            <a:ext cx="1515291" cy="80467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ipe_label_1"/>
          <p:cNvSpPr txBox="1"/>
          <p:nvPr/>
        </p:nvSpPr>
        <p:spPr>
          <a:xfrm>
            <a:off x="2018211" y="2240279"/>
            <a:ext cx="15152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CI builds image</a:t>
            </a:r>
          </a:p>
        </p:txBody>
      </p:sp>
      <p:sp>
        <p:nvSpPr>
          <p:cNvPr id="12" name="pipe_tool_1"/>
          <p:cNvSpPr txBox="1"/>
          <p:nvPr/>
        </p:nvSpPr>
        <p:spPr>
          <a:xfrm>
            <a:off x="2018211" y="3072384"/>
            <a:ext cx="1515291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Jenkins</a:t>
            </a:r>
          </a:p>
        </p:txBody>
      </p:sp>
      <p:sp>
        <p:nvSpPr>
          <p:cNvPr id="13" name="pipe_box_2"/>
          <p:cNvSpPr/>
          <p:nvPr/>
        </p:nvSpPr>
        <p:spPr>
          <a:xfrm>
            <a:off x="3670662" y="2194560"/>
            <a:ext cx="1515291" cy="80467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ipe_label_2"/>
          <p:cNvSpPr txBox="1"/>
          <p:nvPr/>
        </p:nvSpPr>
        <p:spPr>
          <a:xfrm>
            <a:off x="3670662" y="2240279"/>
            <a:ext cx="15152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Image stored</a:t>
            </a:r>
          </a:p>
        </p:txBody>
      </p:sp>
      <p:sp>
        <p:nvSpPr>
          <p:cNvPr id="15" name="pipe_tool_2"/>
          <p:cNvSpPr txBox="1"/>
          <p:nvPr/>
        </p:nvSpPr>
        <p:spPr>
          <a:xfrm>
            <a:off x="3670662" y="3072384"/>
            <a:ext cx="1515291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ECR</a:t>
            </a:r>
          </a:p>
        </p:txBody>
      </p:sp>
      <p:sp>
        <p:nvSpPr>
          <p:cNvPr id="16" name="pipe_box_3"/>
          <p:cNvSpPr/>
          <p:nvPr/>
        </p:nvSpPr>
        <p:spPr>
          <a:xfrm>
            <a:off x="5323114" y="2194560"/>
            <a:ext cx="1515291" cy="80467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ipe_label_3"/>
          <p:cNvSpPr txBox="1"/>
          <p:nvPr/>
        </p:nvSpPr>
        <p:spPr>
          <a:xfrm>
            <a:off x="5323114" y="2240279"/>
            <a:ext cx="15152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Bot updates repo</a:t>
            </a:r>
          </a:p>
        </p:txBody>
      </p:sp>
      <p:sp>
        <p:nvSpPr>
          <p:cNvPr id="18" name="pipe_tool_3"/>
          <p:cNvSpPr txBox="1"/>
          <p:nvPr/>
        </p:nvSpPr>
        <p:spPr>
          <a:xfrm>
            <a:off x="5323114" y="3072384"/>
            <a:ext cx="1515291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zen-gitops</a:t>
            </a:r>
          </a:p>
        </p:txBody>
      </p:sp>
      <p:sp>
        <p:nvSpPr>
          <p:cNvPr id="19" name="pipe_box_4"/>
          <p:cNvSpPr/>
          <p:nvPr/>
        </p:nvSpPr>
        <p:spPr>
          <a:xfrm>
            <a:off x="6975565" y="2194560"/>
            <a:ext cx="1515291" cy="80467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ipe_label_4"/>
          <p:cNvSpPr txBox="1"/>
          <p:nvPr/>
        </p:nvSpPr>
        <p:spPr>
          <a:xfrm>
            <a:off x="6975565" y="2240279"/>
            <a:ext cx="15152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ArgoCD detects</a:t>
            </a:r>
          </a:p>
        </p:txBody>
      </p:sp>
      <p:sp>
        <p:nvSpPr>
          <p:cNvPr id="21" name="pipe_tool_4"/>
          <p:cNvSpPr txBox="1"/>
          <p:nvPr/>
        </p:nvSpPr>
        <p:spPr>
          <a:xfrm>
            <a:off x="6975565" y="3072384"/>
            <a:ext cx="1515291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ArgoCD</a:t>
            </a:r>
          </a:p>
        </p:txBody>
      </p:sp>
      <p:sp>
        <p:nvSpPr>
          <p:cNvPr id="22" name="pipe_box_5"/>
          <p:cNvSpPr/>
          <p:nvPr/>
        </p:nvSpPr>
        <p:spPr>
          <a:xfrm>
            <a:off x="8628017" y="2194560"/>
            <a:ext cx="1515291" cy="80467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pipe_label_5"/>
          <p:cNvSpPr txBox="1"/>
          <p:nvPr/>
        </p:nvSpPr>
        <p:spPr>
          <a:xfrm>
            <a:off x="8628017" y="2240279"/>
            <a:ext cx="15152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Render manifests</a:t>
            </a:r>
          </a:p>
        </p:txBody>
      </p:sp>
      <p:sp>
        <p:nvSpPr>
          <p:cNvPr id="24" name="pipe_tool_5"/>
          <p:cNvSpPr txBox="1"/>
          <p:nvPr/>
        </p:nvSpPr>
        <p:spPr>
          <a:xfrm>
            <a:off x="8628017" y="3072384"/>
            <a:ext cx="1515291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Helm</a:t>
            </a:r>
          </a:p>
        </p:txBody>
      </p:sp>
      <p:sp>
        <p:nvSpPr>
          <p:cNvPr id="25" name="pipe_box_6"/>
          <p:cNvSpPr/>
          <p:nvPr/>
        </p:nvSpPr>
        <p:spPr>
          <a:xfrm>
            <a:off x="10280468" y="2194560"/>
            <a:ext cx="1515291" cy="80467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ipe_label_6"/>
          <p:cNvSpPr txBox="1"/>
          <p:nvPr/>
        </p:nvSpPr>
        <p:spPr>
          <a:xfrm>
            <a:off x="10280468" y="2240279"/>
            <a:ext cx="15152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Pod running</a:t>
            </a:r>
          </a:p>
        </p:txBody>
      </p:sp>
      <p:sp>
        <p:nvSpPr>
          <p:cNvPr id="27" name="pipe_tool_6"/>
          <p:cNvSpPr txBox="1"/>
          <p:nvPr/>
        </p:nvSpPr>
        <p:spPr>
          <a:xfrm>
            <a:off x="10280468" y="3072384"/>
            <a:ext cx="1515291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55"/>
                </a:solidFill>
              </a:rPr>
              <a:t>EKS</a:t>
            </a:r>
          </a:p>
        </p:txBody>
      </p:sp>
      <p:sp>
        <p:nvSpPr>
          <p:cNvPr id="28" name="recap"/>
          <p:cNvSpPr txBox="1"/>
          <p:nvPr/>
        </p:nvSpPr>
        <p:spPr>
          <a:xfrm>
            <a:off x="548640" y="41148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1A2B4A"/>
                </a:solidFill>
              </a:rPr>
              <a:t>You now know what 'continuous deployment' means at Zen Pharma — from a code push to a 200 OK on the ALB.</a:t>
            </a:r>
          </a:p>
        </p:txBody>
      </p:sp>
      <p:sp>
        <p:nvSpPr>
          <p:cNvPr id="29" name="next_bg"/>
          <p:cNvSpPr/>
          <p:nvPr/>
        </p:nvSpPr>
        <p:spPr>
          <a:xfrm>
            <a:off x="2743200" y="5486400"/>
            <a:ext cx="6675120" cy="8229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next"/>
          <p:cNvSpPr txBox="1"/>
          <p:nvPr/>
        </p:nvSpPr>
        <p:spPr>
          <a:xfrm>
            <a:off x="2743200" y="562356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Next session: Defend what you built (interview prep)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r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ssion_num"/>
          <p:cNvSpPr txBox="1"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6C7"/>
                </a:solidFill>
              </a:rPr>
              <a:t>SESSION 2</a:t>
            </a:r>
          </a:p>
        </p:txBody>
      </p:sp>
      <p:sp>
        <p:nvSpPr>
          <p:cNvPr id="5" name="session_title"/>
          <p:cNvSpPr txBox="1"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What Runs in the Cluster:
K8s, Helm &amp; Secrets</a:t>
            </a:r>
          </a:p>
        </p:txBody>
      </p:sp>
      <p:sp>
        <p:nvSpPr>
          <p:cNvPr id="6" name="sess_box_0"/>
          <p:cNvSpPr/>
          <p:nvPr/>
        </p:nvSpPr>
        <p:spPr>
          <a:xfrm>
            <a:off x="457200" y="3291840"/>
            <a:ext cx="3657600" cy="7315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ss_lbl_0"/>
          <p:cNvSpPr txBox="1"/>
          <p:nvPr/>
        </p:nvSpPr>
        <p:spPr>
          <a:xfrm>
            <a:off x="457200" y="3337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Session 1
Code → Cluster</a:t>
            </a:r>
          </a:p>
        </p:txBody>
      </p:sp>
      <p:sp>
        <p:nvSpPr>
          <p:cNvPr id="8" name="sess_box_1"/>
          <p:cNvSpPr/>
          <p:nvPr/>
        </p:nvSpPr>
        <p:spPr>
          <a:xfrm>
            <a:off x="4206240" y="3291840"/>
            <a:ext cx="3657600" cy="7315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ess_lbl_1"/>
          <p:cNvSpPr txBox="1"/>
          <p:nvPr/>
        </p:nvSpPr>
        <p:spPr>
          <a:xfrm>
            <a:off x="4206240" y="3337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Session 2
K8s, Helm &amp; Secrets</a:t>
            </a:r>
          </a:p>
        </p:txBody>
      </p:sp>
      <p:sp>
        <p:nvSpPr>
          <p:cNvPr id="10" name="sess_box_2"/>
          <p:cNvSpPr/>
          <p:nvPr/>
        </p:nvSpPr>
        <p:spPr>
          <a:xfrm>
            <a:off x="7955280" y="3291840"/>
            <a:ext cx="3657600" cy="7315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ess_lbl_2"/>
          <p:cNvSpPr txBox="1"/>
          <p:nvPr/>
        </p:nvSpPr>
        <p:spPr>
          <a:xfrm>
            <a:off x="7955280" y="3337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Session 3
Prod-Grade ArgoCD</a:t>
            </a:r>
          </a:p>
        </p:txBody>
      </p:sp>
      <p:sp>
        <p:nvSpPr>
          <p:cNvPr id="12" name="active_lbl"/>
          <p:cNvSpPr txBox="1"/>
          <p:nvPr/>
        </p:nvSpPr>
        <p:spPr>
          <a:xfrm>
            <a:off x="4206240" y="32918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</a:rPr>
              <a:t>Session 2
K8s, Helm &amp; Secrets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r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ssion_num"/>
          <p:cNvSpPr txBox="1"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6C7"/>
                </a:solidFill>
              </a:rPr>
              <a:t>SESSION 3</a:t>
            </a:r>
          </a:p>
        </p:txBody>
      </p:sp>
      <p:sp>
        <p:nvSpPr>
          <p:cNvPr id="5" name="session_title"/>
          <p:cNvSpPr txBox="1"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Production-Grade:
ArgoCD, RBAC &amp; Monitoring</a:t>
            </a:r>
          </a:p>
        </p:txBody>
      </p:sp>
      <p:sp>
        <p:nvSpPr>
          <p:cNvPr id="6" name="sess_box_0"/>
          <p:cNvSpPr/>
          <p:nvPr/>
        </p:nvSpPr>
        <p:spPr>
          <a:xfrm>
            <a:off x="457200" y="3291840"/>
            <a:ext cx="3657600" cy="7315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ss_lbl_0"/>
          <p:cNvSpPr txBox="1"/>
          <p:nvPr/>
        </p:nvSpPr>
        <p:spPr>
          <a:xfrm>
            <a:off x="457200" y="3337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Session 1
Code → Cluster</a:t>
            </a:r>
          </a:p>
        </p:txBody>
      </p:sp>
      <p:sp>
        <p:nvSpPr>
          <p:cNvPr id="8" name="sess_box_1"/>
          <p:cNvSpPr/>
          <p:nvPr/>
        </p:nvSpPr>
        <p:spPr>
          <a:xfrm>
            <a:off x="4206240" y="3291840"/>
            <a:ext cx="3657600" cy="7315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ess_lbl_1"/>
          <p:cNvSpPr txBox="1"/>
          <p:nvPr/>
        </p:nvSpPr>
        <p:spPr>
          <a:xfrm>
            <a:off x="4206240" y="3337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Session 2
K8s, Helm &amp; Secrets</a:t>
            </a:r>
          </a:p>
        </p:txBody>
      </p:sp>
      <p:sp>
        <p:nvSpPr>
          <p:cNvPr id="10" name="sess_box_2"/>
          <p:cNvSpPr/>
          <p:nvPr/>
        </p:nvSpPr>
        <p:spPr>
          <a:xfrm>
            <a:off x="7955280" y="3291840"/>
            <a:ext cx="3657600" cy="7315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ess_lbl_2"/>
          <p:cNvSpPr txBox="1"/>
          <p:nvPr/>
        </p:nvSpPr>
        <p:spPr>
          <a:xfrm>
            <a:off x="7955280" y="3337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Session 3
Prod-Grade ArgoCD</a:t>
            </a:r>
          </a:p>
        </p:txBody>
      </p:sp>
      <p:sp>
        <p:nvSpPr>
          <p:cNvPr id="12" name="active_lbl"/>
          <p:cNvSpPr txBox="1"/>
          <p:nvPr/>
        </p:nvSpPr>
        <p:spPr>
          <a:xfrm>
            <a:off x="7955280" y="32918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</a:rPr>
              <a:t>Session 3
Prod-Grade ArgoCD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HELM INTERNALS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One chart serves all 9 services: fullnameOverride</a:t>
            </a:r>
          </a:p>
        </p:txBody>
      </p:sp>
      <p:sp>
        <p:nvSpPr>
          <p:cNvPr id="6" name="sub"/>
          <p:cNvSpPr txBox="1"/>
          <p:nvPr/>
        </p:nvSpPr>
        <p:spPr>
          <a:xfrm>
            <a:off x="32004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Each service gets its own values file — fullnameOverride is the key.</a:t>
            </a:r>
          </a:p>
        </p:txBody>
      </p:sp>
      <p:sp>
        <p:nvSpPr>
          <p:cNvPr id="7" name="code_bg"/>
          <p:cNvSpPr/>
          <p:nvPr/>
        </p:nvSpPr>
        <p:spPr>
          <a:xfrm>
            <a:off x="457200" y="1828800"/>
            <a:ext cx="6858000" cy="42976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"/>
          <p:cNvSpPr txBox="1"/>
          <p:nvPr/>
        </p:nvSpPr>
        <p:spPr>
          <a:xfrm>
            <a:off x="594360" y="192024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Menlo"/>
              </a:rPr>
              <a:t># helm-charts/values.yaml (shared defaults)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image: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  repository: ""    # overridden per service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  tag: "latest"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# envs/prod/values-auth-service.yaml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fullnameOverride: auth-service     # ← names ALL K8s objects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image: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  repository: 516209541629.dkr.ecr.us-east-1.amazonaws.com/auth-service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  tag: sha-ef1ccc7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# envs/prod/values-api-gateway.yaml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fullnameOverride: api-gateway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image: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  repository: 516209541629.dkr.ecr.us-east-1.amazonaws.com/api-gateway</a:t>
            </a:r>
          </a:p>
          <a:p>
            <a:r>
              <a:rPr sz="1100">
                <a:solidFill>
                  <a:srgbClr val="FFFFFF"/>
                </a:solidFill>
                <a:latin typeface="Menlo"/>
              </a:rPr>
              <a:t>  tag: sha-ef1ccc7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7589520" y="201168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fullnameOverride sets the name for Deployment, Service, ConfigMap, SA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Without it, Helm uses release-name-chart-name (auth-service-pharma-service)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One chart folder: helm-charts/ — no per-service chart copy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ArgoCD release name = fullnameOverride value → clean object names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9 services = 9 values files, 1 chart template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HELM INTERNALS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_helpers.tpl: the naming engine</a:t>
            </a:r>
          </a:p>
        </p:txBody>
      </p:sp>
      <p:sp>
        <p:nvSpPr>
          <p:cNvPr id="6" name="sub"/>
          <p:cNvSpPr txBox="1"/>
          <p:nvPr/>
        </p:nvSpPr>
        <p:spPr>
          <a:xfrm>
            <a:off x="32004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Every object name in the cluster comes from these three functions.</a:t>
            </a:r>
          </a:p>
        </p:txBody>
      </p:sp>
      <p:sp>
        <p:nvSpPr>
          <p:cNvPr id="7" name="code_bg"/>
          <p:cNvSpPr/>
          <p:nvPr/>
        </p:nvSpPr>
        <p:spPr>
          <a:xfrm>
            <a:off x="457200" y="1828800"/>
            <a:ext cx="6858000" cy="4480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"/>
          <p:cNvSpPr txBox="1"/>
          <p:nvPr/>
        </p:nvSpPr>
        <p:spPr>
          <a:xfrm>
            <a:off x="594360" y="192024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# helm-charts/templates/_helpers.tpl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{{- define "pharma-service.fullname" -}}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{{- if .Values.fullnameOverride }}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{{- .Values.fullnameOverride | trunc 63 | trimSuffix "-" }}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{{- else }}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{{- printf "%s-%s" .Release.Name $name | trunc 63 | trimSuffix "-" }}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{{- end }}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{{- end }}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{{- define "pharma-service.labels" -}}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helm.sh/chart: {{ include "pharma-service.chart" . }}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app.kubernetes.io/name: {{ include "pharma-service.name" . }}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app.kubernetes.io/instance: {{ .Release.Name }}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app.kubernetes.io/managed-by: {{ .Release.Service }}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{{- end }}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Used in deployment.yaml: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metadata: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name: {{ include "pharma-service.fullname" . }}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labels: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{{- include "pharma-service.labels" . | nindent 4 }}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7589520" y="201168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pharma-service.fullname → Deployment / Service / ConfigMap name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pharma-service.labels → standard k8s labels on every object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pharma-service.selectorLabels → matchLabels + pod template labels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trunc 63 — Kubernetes DNS name limit; trimSuffix cleans trailing dashes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Defined once, referenced from deployment/service/sa/ingress templates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HELM INTERNALS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checksum/config: auto-restart on ConfigMap change</a:t>
            </a:r>
          </a:p>
        </p:txBody>
      </p:sp>
      <p:sp>
        <p:nvSpPr>
          <p:cNvPr id="6" name="sub"/>
          <p:cNvSpPr txBox="1"/>
          <p:nvPr/>
        </p:nvSpPr>
        <p:spPr>
          <a:xfrm>
            <a:off x="32004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Without this annotation, pods keep stale config after a values file update.</a:t>
            </a:r>
          </a:p>
        </p:txBody>
      </p:sp>
      <p:sp>
        <p:nvSpPr>
          <p:cNvPr id="7" name="code_bg"/>
          <p:cNvSpPr/>
          <p:nvPr/>
        </p:nvSpPr>
        <p:spPr>
          <a:xfrm>
            <a:off x="457200" y="1828800"/>
            <a:ext cx="6858000" cy="4480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"/>
          <p:cNvSpPr txBox="1"/>
          <p:nvPr/>
        </p:nvSpPr>
        <p:spPr>
          <a:xfrm>
            <a:off x="594360" y="192024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# helm-charts/templates/deployment.yaml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spec: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template: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metadata: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annotations: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checksum/config: {{ include (print $.Template.BasePath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                    "/configmap.yaml") . | sha256sum }}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What this does: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1. Helm renders configmap.yaml with the current values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2. sha256sum hashes the rendered YAML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3. That hash lives as a pod annotation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4. When DB_HOST or LOG_LEVEL changes → hash changes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5. K8s sees annotation diff → triggers rolling restart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6. New pods start with fresh ConfigMap values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Without it: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values-auth-service.yaml: LOG_LEVEL: WARN  (changed)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git push → ArgoCD syncs → ConfigMap updated ✓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but pods still run LOG_LEVEL: DEBUG ✗ (no restart)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7589520" y="201168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ConfigMap update alone does NOT restart pods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The annotation makes Helm include config hash in pod spec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Pod spec change → rolling restart → pods pick up new env vars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Zero-downtime: rolling restart respects minReadySeconds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No manual kubectl rollout restart needed after config changes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HELM INTERNALS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securityContext: least-privilege by default</a:t>
            </a:r>
          </a:p>
        </p:txBody>
      </p:sp>
      <p:sp>
        <p:nvSpPr>
          <p:cNvPr id="6" name="sub"/>
          <p:cNvSpPr txBox="1"/>
          <p:nvPr/>
        </p:nvSpPr>
        <p:spPr>
          <a:xfrm>
            <a:off x="32004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Every service inherits these from helm-charts/values.yaml — no extra work needed.</a:t>
            </a:r>
          </a:p>
        </p:txBody>
      </p:sp>
      <p:sp>
        <p:nvSpPr>
          <p:cNvPr id="7" name="code_bg"/>
          <p:cNvSpPr/>
          <p:nvPr/>
        </p:nvSpPr>
        <p:spPr>
          <a:xfrm>
            <a:off x="457200" y="1828800"/>
            <a:ext cx="6858000" cy="4480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"/>
          <p:cNvSpPr txBox="1"/>
          <p:nvPr/>
        </p:nvSpPr>
        <p:spPr>
          <a:xfrm>
            <a:off x="594360" y="192024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# helm-charts/values.yaml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podSecurityContext: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fsGroup: 2000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runAsNonRoot: true    # pod refused if image runs as root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runAsUser: 1000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securityContext:        # per-container (overrides pod-level)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allowPrivilegeEscalation: false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capabilities: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drop: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- ALL             # remove ALL Linux capabilities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readOnlyRootFilesystem: true  # container FS is immutable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runAsNonRoot: true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runAsUser: 1000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Deployed via deployment.yaml: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securityContext: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{{- toYaml .Values.podSecurityContext | nindent 8 }}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containers: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- securityContext: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    {{- toYaml .Values.securityContext | nindent 12 }}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7589520" y="201168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runAsNonRoot: container image must declare USER != 0 or pod won't start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drop ALL: removes raw sockets, ptrace, bind privileged ports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readOnlyRootFilesystem: malware can't write executables to /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These are FREE — zero per-service config, inherited automatically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Fails fast at deploy time if the Dockerfile runs as root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HELM INTERNALS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/tmp emptyDir: writable scratch space under readOnlyRootFilesystem</a:t>
            </a:r>
          </a:p>
        </p:txBody>
      </p:sp>
      <p:sp>
        <p:nvSpPr>
          <p:cNvPr id="6" name="sub"/>
          <p:cNvSpPr txBox="1"/>
          <p:nvPr/>
        </p:nvSpPr>
        <p:spPr>
          <a:xfrm>
            <a:off x="32004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readOnlyRootFilesystem blocks writes — services need /tmp. Solution: emptyDir.</a:t>
            </a:r>
          </a:p>
        </p:txBody>
      </p:sp>
      <p:sp>
        <p:nvSpPr>
          <p:cNvPr id="7" name="code_bg"/>
          <p:cNvSpPr/>
          <p:nvPr/>
        </p:nvSpPr>
        <p:spPr>
          <a:xfrm>
            <a:off x="457200" y="1828800"/>
            <a:ext cx="6858000" cy="4480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"/>
          <p:cNvSpPr txBox="1"/>
          <p:nvPr/>
        </p:nvSpPr>
        <p:spPr>
          <a:xfrm>
            <a:off x="594360" y="192024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# envs/prod/values-auth-service.yaml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volumeMounts: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- name: tmp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mountPath: /tmp     # Spring Boot needs this for temp files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volumes: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- name: tmp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emptyDir: {}        # RAM-backed tmpfs, deleted with the pod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pharma-ui needs more writable dirs (nginx):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volumeMounts: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- name: tmp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mountPath: /tmp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- name: nginx-cache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mountPath: /var/cache/nginx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- name: nginx-run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mountPath: /var/run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volumes: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- name: tmp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emptyDir: {}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- name: nginx-cache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emptyDir: {}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- name: nginx-run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emptyDir: {}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7589520" y="201168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emptyDir lives only for the pod's lifetime — no persistence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Backed by node disk (or RAM if medium: Memory specified)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Spring Boot: needs /tmp for file uploads and temp class loading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nginx: needs /var/cache/nginx and /var/run for PID file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Declared in values file, rendered into pod spec by deployment.yaml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SECRETS — ESO DEEP DIVE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ClusterSecretStore: the bridge to AWS Secrets Manager</a:t>
            </a:r>
          </a:p>
        </p:txBody>
      </p:sp>
      <p:sp>
        <p:nvSpPr>
          <p:cNvPr id="6" name="sub"/>
          <p:cNvSpPr txBox="1"/>
          <p:nvPr/>
        </p:nvSpPr>
        <p:spPr>
          <a:xfrm>
            <a:off x="32004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One store for the whole cluster. IRSA gives it AWS access — no static creds.</a:t>
            </a:r>
          </a:p>
        </p:txBody>
      </p:sp>
      <p:sp>
        <p:nvSpPr>
          <p:cNvPr id="7" name="code_bg"/>
          <p:cNvSpPr/>
          <p:nvPr/>
        </p:nvSpPr>
        <p:spPr>
          <a:xfrm>
            <a:off x="457200" y="1828800"/>
            <a:ext cx="6858000" cy="4572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"/>
          <p:cNvSpPr txBox="1"/>
          <p:nvPr/>
        </p:nvSpPr>
        <p:spPr>
          <a:xfrm>
            <a:off x="594360" y="192024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# k8s/external-secrets/cluster-secret-store.yaml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apiVersion: external-secrets.io/v1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kind: ClusterSecretStore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metadata: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name: aws-secrets-manager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spec: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provider: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aws: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service: SecretsManager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region: us-east-1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auth: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jwt: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  serviceAccountRef: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    name: external-secrets          # ESO's own ServiceAccount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    namespace: external-secrets     # lives in its own namespace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The ESO ServiceAccount has this annotation (set by Terraform):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  eks.amazonaws.com/role-arn: arn:aws:iam::516209541629:role/eso-irsa-role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AWS OIDC gives the pod short-lived creds scoped to eso-irsa-role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eso-irsa-role IAM policy: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  secretsmanager:GetSecretValue  on  /pharma/*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7589520" y="210312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ClusterSecretStore is cluster-wide — all namespaces share one store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IRSA: pod identity → temporary AWS token → no stored credentials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IAM policy is scoped to /pharma/* — can't read other secrets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One ClusterSecretStore drives ExternalSecrets in dev, qa, and prod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Rotated automatically: AWS creds expire hourly, OIDC renews them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SECRETS — ESO DEEP DIVE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ExternalSecret: the full YAML from the repo</a:t>
            </a:r>
          </a:p>
        </p:txBody>
      </p:sp>
      <p:sp>
        <p:nvSpPr>
          <p:cNvPr id="6" name="sub"/>
          <p:cNvSpPr txBox="1"/>
          <p:nvPr/>
        </p:nvSpPr>
        <p:spPr>
          <a:xfrm>
            <a:off x="32004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Lives in k8s/external-secrets/prod-external-secrets.yaml — one per secret per env.</a:t>
            </a:r>
          </a:p>
        </p:txBody>
      </p:sp>
      <p:sp>
        <p:nvSpPr>
          <p:cNvPr id="7" name="code_bg"/>
          <p:cNvSpPr/>
          <p:nvPr/>
        </p:nvSpPr>
        <p:spPr>
          <a:xfrm>
            <a:off x="457200" y="1828800"/>
            <a:ext cx="7132320" cy="4572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"/>
          <p:cNvSpPr txBox="1"/>
          <p:nvPr/>
        </p:nvSpPr>
        <p:spPr>
          <a:xfrm>
            <a:off x="594360" y="19202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apiVersion: external-secrets.io/v1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kind: ExternalSecret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metadata: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name: db-credentials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namespace: prod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spec: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refreshInterval: 1h          # ESO re-reads AWS every hour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secretStoreRef: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name: aws-secrets-manager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kind: ClusterSecretStore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target: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name: db-credentials        # K8s Secret name that gets created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creationPolicy: Owner       # ESO owns it (deletes if ES deleted)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data: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- secretKey: DB_PASSWORD          # key inside the K8s Secret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remoteRef: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key: /pharma/prod/db-credentials   # AWS secret name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property: password                 # JSON field inside the secret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- secretKey: SPRING_DATASOURCE_PASSWORD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remoteRef: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key: /pharma/prod/db-credentials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property: password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7863840" y="210312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AWS secret path convention: /pharma/{env}/{secret-name}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refreshInterval: 1h — rotate in AWS, K8s Secret updates within 1 hour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creationPolicy: Owner — ES deletion also deletes the K8s Secret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dev, qa, prod each have their own ExternalSecret pointing to own path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The actual password never touches this repo — only the path reference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SECRETS — ESO DEEP DIVE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envFrom.secretRef: how the secret reaches the pod</a:t>
            </a:r>
          </a:p>
        </p:txBody>
      </p:sp>
      <p:sp>
        <p:nvSpPr>
          <p:cNvPr id="6" name="sub"/>
          <p:cNvSpPr txBox="1"/>
          <p:nvPr/>
        </p:nvSpPr>
        <p:spPr>
          <a:xfrm>
            <a:off x="32004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The K8s Secret ESO created is mounted into the pod as environment variables.</a:t>
            </a:r>
          </a:p>
        </p:txBody>
      </p:sp>
      <p:sp>
        <p:nvSpPr>
          <p:cNvPr id="7" name="code_bg"/>
          <p:cNvSpPr/>
          <p:nvPr/>
        </p:nvSpPr>
        <p:spPr>
          <a:xfrm>
            <a:off x="457200" y="1828800"/>
            <a:ext cx="7132320" cy="46634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"/>
          <p:cNvSpPr txBox="1"/>
          <p:nvPr/>
        </p:nvSpPr>
        <p:spPr>
          <a:xfrm>
            <a:off x="594360" y="1920240"/>
            <a:ext cx="685800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# envs/prod/values-auth-service.yaml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envFrom: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- secretRef: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name: db-credentials    # K8s Secret created by ESO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- secretRef: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name: jwt-secret        # another ESO-managed Secret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This renders into deployment.yaml as: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envFrom: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  - configMapRef: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      name: auth-service    # non-secret config (DB_HOST, LOG_LEVEL)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  - secretRef: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      name: db-credentials  # DB_USERNAME, DB_PASSWORD, DATASOURCE_*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  - secretRef: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      name: jwt-secret      # JWT_SECRET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What auth-service sees at runtime: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DB_HOST=pharma-prod-postgres.cs3c424yurej.us-east-1.rds.amazonaws.com (ConfigMap)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DB_PASSWORD=&lt;rotated-value&gt;  (K8s Secret from ESO)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JWT_SECRET=&lt;rotated-value&gt;   (K8s Secret from ESO)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7863840" y="210312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envFrom loads ALL keys from the Secret as env vars — no key listing needed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ConfigMap (non-secret) + Secrets (sensitive) injected in same envFrom block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Restart pod after secret rotation to pick up new values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kubectl describe pod shows envFrom refs but NOT the secret values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ARGOCD DEEP DIVE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Application: every field that matters</a:t>
            </a:r>
          </a:p>
        </p:txBody>
      </p:sp>
      <p:sp>
        <p:nvSpPr>
          <p:cNvPr id="6" name="sub"/>
          <p:cNvSpPr txBox="1"/>
          <p:nvPr/>
        </p:nvSpPr>
        <p:spPr>
          <a:xfrm>
            <a:off x="32004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argocd/apps/prod/auth-service-app.yaml — the complete picture.</a:t>
            </a:r>
          </a:p>
        </p:txBody>
      </p:sp>
      <p:sp>
        <p:nvSpPr>
          <p:cNvPr id="7" name="code_bg"/>
          <p:cNvSpPr/>
          <p:nvPr/>
        </p:nvSpPr>
        <p:spPr>
          <a:xfrm>
            <a:off x="457200" y="1828800"/>
            <a:ext cx="6858000" cy="46634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"/>
          <p:cNvSpPr txBox="1"/>
          <p:nvPr/>
        </p:nvSpPr>
        <p:spPr>
          <a:xfrm>
            <a:off x="594360" y="1920240"/>
            <a:ext cx="65836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metadata: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name: auth-service-prod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namespace: argocd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labels: { env: prod, app: auth-service, managed-by: terraform 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finalizers: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- resources-finalizer.argocd.argoproj.io  # block deletion until resources pruned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spec: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project: pharma                   # AppProject gate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source: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repoURL: https://github.com/DPP-2026/zen-gitops.git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targetRevision: HEAD             # always latest commit on default branch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path: helm-charts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helm: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valueFiles: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- ../envs/prod/values-auth-service.yaml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destination: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server: https://kubernetes.default.svc   # in-cluster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namespace: prod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syncPolicy: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automated: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prune: true        # delete resources removed from git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selfHeal: true     # revert manual kubectl edits (api-gateway only)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allowEmpty: false  # never sync an empty chart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revisionHistoryLimit: 10          # keep last 10 deploys for rollback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7589520" y="2103120"/>
            <a:ext cx="4297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finalizer: ArgoCD won't delete the Application until all owned K8s objects are gone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targetRevision: HEAD — follows main branch; can be a SHA to pin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selfHeal: true only on api-gateway (prod); auth-service has it commented out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revisionHistoryLimit: 10 → argocd app rollback auth-service-prod 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ARGOCD DEEP DIVE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syncPolicy: every option explained</a:t>
            </a:r>
          </a:p>
        </p:txBody>
      </p:sp>
      <p:sp>
        <p:nvSpPr>
          <p:cNvPr id="6" name="sub"/>
          <p:cNvSpPr txBox="1"/>
          <p:nvPr/>
        </p:nvSpPr>
        <p:spPr>
          <a:xfrm>
            <a:off x="32004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retry + syncOptions are the safety net for transient failures.</a:t>
            </a:r>
          </a:p>
        </p:txBody>
      </p:sp>
      <p:sp>
        <p:nvSpPr>
          <p:cNvPr id="7" name="code_bg"/>
          <p:cNvSpPr/>
          <p:nvPr/>
        </p:nvSpPr>
        <p:spPr>
          <a:xfrm>
            <a:off x="457200" y="1828800"/>
            <a:ext cx="7132320" cy="46634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"/>
          <p:cNvSpPr txBox="1"/>
          <p:nvPr/>
        </p:nvSpPr>
        <p:spPr>
          <a:xfrm>
            <a:off x="594360" y="1920240"/>
            <a:ext cx="685800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syncPolicy: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automated: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prune: true           # removes K8s objects whose templates were deleted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selfHeal: true        # re-syncs if someone runs kubectl manually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allowEmpty: false     # protects against syncing an accidentally empty chart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syncOptions: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- CreateNamespace=true          # creates dev/qa/prod if they don't exist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- PrunePropagationPolicy=foreground  # waits for delete to finish before next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- PruneLast=true                # deletes old resources AFTER new pods are healthy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retry: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limit: 5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backoff: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duration: 5s        # first retry after 5 seconds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factor: 2           # doubles each time: 5s, 10s, 20s, 40s, 80s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maxDuration: 3m     # never wait longer than 3 minutes between retries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ignoreDifferences: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- group: apps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kind: Deployment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jsonPointers: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- /spec/replicas    # HPA owns this field — ArgoCD must not fight it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7863840" y="210312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PruneLast is critical — old pod removed AFTER new pod passes readiness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retry backoff protects against API server rate limits or CRD wait time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ignoreDifferences: HPA updates replicas live; ArgoCD would revert it otherwise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Without allowEmpty: false, a bad merge could delete all running services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ARGOCD DEEP DIVE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AppProject: the security boundary around all deployments</a:t>
            </a:r>
          </a:p>
        </p:txBody>
      </p:sp>
      <p:sp>
        <p:nvSpPr>
          <p:cNvPr id="6" name="sub"/>
          <p:cNvSpPr txBox="1"/>
          <p:nvPr/>
        </p:nvSpPr>
        <p:spPr>
          <a:xfrm>
            <a:off x="32004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argocd/projects/pharma-project.yaml — scopes what ArgoCD is allowed to do.</a:t>
            </a:r>
          </a:p>
        </p:txBody>
      </p:sp>
      <p:sp>
        <p:nvSpPr>
          <p:cNvPr id="7" name="code_bg"/>
          <p:cNvSpPr/>
          <p:nvPr/>
        </p:nvSpPr>
        <p:spPr>
          <a:xfrm>
            <a:off x="457200" y="1828800"/>
            <a:ext cx="6858000" cy="46634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"/>
          <p:cNvSpPr txBox="1"/>
          <p:nvPr/>
        </p:nvSpPr>
        <p:spPr>
          <a:xfrm>
            <a:off x="594360" y="1920240"/>
            <a:ext cx="65836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apiVersion: argoproj.io/v1alpha1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kind: AppProject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metadata: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name: pharma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namespace: argocd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spec: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sourceRepos: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- "https://github.com/DPP-2026/zen-gitops.git"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- "https://prometheus-community.github.io/helm-charts"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- "https://kubernetes.github.io/ingress-nginx"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destinations: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- server: https://kubernetes.default.svc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namespace: dev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- server: https://kubernetes.default.svc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namespace: qa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- server: https://kubernetes.default.svc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namespace: prod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- server: https://kubernetes.default.svc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namespace: monitoring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roles: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- name: pharma-admin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policies: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- p, proj:pharma:pharma-admin, applications, *, pharma/*, allow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groups: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- pharma-devops-team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7589520" y="21031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sourceRepos: only approved repos can be synced — rejects unknown chart repos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destinations: ArgoCD can only deploy to dev, qa, prod, monitoring namespaces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roles: pharma-devops-team members get full Application control via RBAC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Any Application outside these gates is rejected at sync time, not silently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ARGOCD DEEP DIVE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dev vs qa/prod: individual apps vs app-of-apps</a:t>
            </a:r>
          </a:p>
        </p:txBody>
      </p:sp>
      <p:sp>
        <p:nvSpPr>
          <p:cNvPr id="6" name="sub"/>
          <p:cNvSpPr txBox="1"/>
          <p:nvPr/>
        </p:nvSpPr>
        <p:spPr>
          <a:xfrm>
            <a:off x="32004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dev has 8 individual Application files. qa and prod have 1 that points to a folder.</a:t>
            </a:r>
          </a:p>
        </p:txBody>
      </p:sp>
      <p:sp>
        <p:nvSpPr>
          <p:cNvPr id="7" name="dev_bg"/>
          <p:cNvSpPr/>
          <p:nvPr/>
        </p:nvSpPr>
        <p:spPr>
          <a:xfrm>
            <a:off x="365760" y="1920240"/>
            <a:ext cx="530352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v_hd"/>
          <p:cNvSpPr txBox="1"/>
          <p:nvPr/>
        </p:nvSpPr>
        <p:spPr>
          <a:xfrm>
            <a:off x="365760" y="2011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6C7"/>
                </a:solidFill>
              </a:rPr>
              <a:t>dev — 8 individual Applications</a:t>
            </a:r>
          </a:p>
        </p:txBody>
      </p:sp>
      <p:sp>
        <p:nvSpPr>
          <p:cNvPr id="9" name="dev_code_bg"/>
          <p:cNvSpPr/>
          <p:nvPr/>
        </p:nvSpPr>
        <p:spPr>
          <a:xfrm>
            <a:off x="457200" y="2468880"/>
            <a:ext cx="5120640" cy="33832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v_code"/>
          <p:cNvSpPr txBox="1"/>
          <p:nvPr/>
        </p:nvSpPr>
        <p:spPr>
          <a:xfrm>
            <a:off x="594360" y="25603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argocd/apps/dev/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auth-service-app.yaml       path: helm-charts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api-gateway-app.yaml        path: helm-charts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catalog-service-app.yaml    path: helm-charts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inventory-service-app.yaml  path: helm-charts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manufacturing-service-app   path: helm-charts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notification-service-app    path: helm-charts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├── pharma-ui-app.yaml          path: helm-charts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└── supplier-service-app.yaml   path: helm-charts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Each has automated: {selfHeal: true, prune: true}</a:t>
            </a:r>
          </a:p>
        </p:txBody>
      </p:sp>
      <p:sp>
        <p:nvSpPr>
          <p:cNvPr id="11" name="prod_bg"/>
          <p:cNvSpPr/>
          <p:nvPr/>
        </p:nvSpPr>
        <p:spPr>
          <a:xfrm>
            <a:off x="6035040" y="1920240"/>
            <a:ext cx="576072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d_hd"/>
          <p:cNvSpPr txBox="1"/>
          <p:nvPr/>
        </p:nvSpPr>
        <p:spPr>
          <a:xfrm>
            <a:off x="6035040" y="201168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</a:rPr>
              <a:t>prod — 1 app-of-apps</a:t>
            </a:r>
          </a:p>
        </p:txBody>
      </p:sp>
      <p:sp>
        <p:nvSpPr>
          <p:cNvPr id="13" name="prod_code_bg"/>
          <p:cNvSpPr/>
          <p:nvPr/>
        </p:nvSpPr>
        <p:spPr>
          <a:xfrm>
            <a:off x="6126480" y="2468880"/>
            <a:ext cx="5577840" cy="33832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d_code"/>
          <p:cNvSpPr txBox="1"/>
          <p:nvPr/>
        </p:nvSpPr>
        <p:spPr>
          <a:xfrm>
            <a:off x="6263640" y="25603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# argocd/apps/prod/pharma-prod-app.yaml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spec: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source: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path: envs/prod      # watches the FOLDER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destination: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namespace: prod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syncPolicy: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syncOptions:         # NO automated — prod is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- CreateNamespace=true   # manually triggered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retry: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limit: 3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backoff: {duration: 10s, factor: 2}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ArgoCD scans envs/prod/ and creates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Application objects for each values file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2B4A"/>
                </a:solidFill>
              </a:rPr>
              <a:t>prod requires a manual sync trigger in ArgoCD UI — no auto-deploy to production.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CLUSTER CONFIG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Namespaces + pharma-deployer RBAC Role</a:t>
            </a:r>
          </a:p>
        </p:txBody>
      </p:sp>
      <p:sp>
        <p:nvSpPr>
          <p:cNvPr id="6" name="sub"/>
          <p:cNvSpPr txBox="1"/>
          <p:nvPr/>
        </p:nvSpPr>
        <p:spPr>
          <a:xfrm>
            <a:off x="32004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k8s/namespaces.yaml and k8s/rbac/ — the cluster-level gates before any app deploys.</a:t>
            </a:r>
          </a:p>
        </p:txBody>
      </p:sp>
      <p:sp>
        <p:nvSpPr>
          <p:cNvPr id="7" name="code_bg"/>
          <p:cNvSpPr/>
          <p:nvPr/>
        </p:nvSpPr>
        <p:spPr>
          <a:xfrm>
            <a:off x="457200" y="1828800"/>
            <a:ext cx="6858000" cy="46634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"/>
          <p:cNvSpPr txBox="1"/>
          <p:nvPr/>
        </p:nvSpPr>
        <p:spPr>
          <a:xfrm>
            <a:off x="594360" y="1920240"/>
            <a:ext cx="65836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# k8s/namespaces.yaml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apiVersion: v1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kind: Namespace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metadata: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name: dev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labels: { env: dev, managed-by: terraform 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qa and prod namespaces follow same pattern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k8s/rbac/dev-role.yaml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apiVersion: rbac.authorization.k8s.io/v1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kind: Role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metadata: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name: pharma-deployer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namespace: dev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rules: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- apiGroups: ["apps"]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resources: ["deployments","replicasets","daemonsets"]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verbs: ["get","list","watch","create","update","patch","delete"]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- apiGroups: [""]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resources: ["pods","pods/log","pods/exec"]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verbs: ["get","list","watch"]       # read-only on pods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- apiGroups: ["autoscaling"]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resources: ["horizontalpodautoscalers"]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verbs: ["get","list","watch","create","update","patch","delete"]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7589520" y="210312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prod Role omits delete and pods/exec — tighter than dev for safety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RoleBinding: gitlab-runner ServiceAccount in gitlab-runner namespace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CI uses this SA to kubectl apply — never needs cluster-admin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ArgoCD uses argocd-manager ClusterRole (full access, different SA)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RBAC principle: minimum verbs needed for the job, per namespace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CLUSTER CONFIG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NGINX Ingress on NLB: how external traffic enters the cluster</a:t>
            </a:r>
          </a:p>
        </p:txBody>
      </p:sp>
      <p:sp>
        <p:nvSpPr>
          <p:cNvPr id="6" name="sub"/>
          <p:cNvSpPr txBox="1"/>
          <p:nvPr/>
        </p:nvSpPr>
        <p:spPr>
          <a:xfrm>
            <a:off x="32004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k8s/ingress/ Helm values — one controller, all services route through it.</a:t>
            </a:r>
          </a:p>
        </p:txBody>
      </p:sp>
      <p:sp>
        <p:nvSpPr>
          <p:cNvPr id="7" name="code_bg"/>
          <p:cNvSpPr/>
          <p:nvPr/>
        </p:nvSpPr>
        <p:spPr>
          <a:xfrm>
            <a:off x="457200" y="1828800"/>
            <a:ext cx="6858000" cy="46634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"/>
          <p:cNvSpPr txBox="1"/>
          <p:nvPr/>
        </p:nvSpPr>
        <p:spPr>
          <a:xfrm>
            <a:off x="594360" y="1920240"/>
            <a:ext cx="65836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# k8s/ingress/ingress-nginx-values.yaml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controller: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replicaCount: 2    # HA — two NGINX pods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service: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type: LoadBalancer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annotations: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service.beta.kubernetes.io/aws-load-balancer-type: "nlb"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service.beta.kubernetes.io/aws-load-balancer-cross-zone-load-balancing-enabled: "true"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config: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proxy-body-size: "50m"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proxy-read-timeout: "600"    # 10 min for long-running requests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autoscaling: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enabled: true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minReplicas: 2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maxReplicas: 10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targetCPUUtilizationPercentage: 80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podAnnotations: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prometheus.io/scrape: "true"   # Prometheus scrapes NGINX metrics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prometheus.io/port: "10254"    # controller metrics port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7589520" y="210312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NLB (not ALB) — Layer 4, preserves client IP, lower latency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Cross-zone load balancing: traffic distributed across all AZs evenly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api-gateway + pharma-ui have ingress.enabled: true in their values files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All other services: ingress.enabled: false — reachable only inside cluster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NGINX scrapes expose request rate, latency, error % to Prometheus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CLUSTER CONFIG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Prometheus + Grafana + AlertManager stack</a:t>
            </a:r>
          </a:p>
        </p:txBody>
      </p:sp>
      <p:sp>
        <p:nvSpPr>
          <p:cNvPr id="6" name="sub"/>
          <p:cNvSpPr txBox="1"/>
          <p:nvPr/>
        </p:nvSpPr>
        <p:spPr>
          <a:xfrm>
            <a:off x="32004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k8s/monitoring/prometheus-values.yaml — deployed via ArgoCD as a Helm release.</a:t>
            </a:r>
          </a:p>
        </p:txBody>
      </p:sp>
      <p:sp>
        <p:nvSpPr>
          <p:cNvPr id="7" name="code_bg"/>
          <p:cNvSpPr/>
          <p:nvPr/>
        </p:nvSpPr>
        <p:spPr>
          <a:xfrm>
            <a:off x="457200" y="1828800"/>
            <a:ext cx="6858000" cy="46634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"/>
          <p:cNvSpPr txBox="1"/>
          <p:nvPr/>
        </p:nvSpPr>
        <p:spPr>
          <a:xfrm>
            <a:off x="594360" y="1920240"/>
            <a:ext cx="65836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# prometheus stack sizing (prod)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prometheus: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prometheusSpec: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retention: 15d         # 15 days of metrics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retentionSize: "18GB"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resources: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requests: {cpu: 500m, memory: 2Gi}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limits:   {cpu: 2000m, memory: 4Gi}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serviceMonitorSelectorNilUsesHelmValues: false  # scrape ALL ServiceMonitors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storageSpec: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volumeClaimTemplate: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spec: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  storageClassName: gp2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  resources: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    requests: {storage: 20Gi}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alertmanager: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config: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route: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group_by: ["alertname","cluster","service"]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repeat_interval: 12h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receiver: "email-notifications"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receivers: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- name: "email-notifications"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email_configs: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  - to: "devops@pharma.com"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            send_resolved: true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7589520" y="210312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Each service exports /actuator/health,metrics,prometheus — scraped by Prometheus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Grafana at monitoring.pharma.internal — auto-discovers dashboards via sidecar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AlertManager groups alerts and sends email; critical severity routes separately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NGINX controller annotated for Prometheus scrape (request rate, error %)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All managed in zen-gitops — infra team deploys, app team adds dashboards via git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LAB JOURNEY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Lab 1 → Lab 2: from raw kubectl to GitOps</a:t>
            </a:r>
          </a:p>
        </p:txBody>
      </p:sp>
      <p:sp>
        <p:nvSpPr>
          <p:cNvPr id="6" name="sub"/>
          <p:cNvSpPr txBox="1"/>
          <p:nvPr/>
        </p:nvSpPr>
        <p:spPr>
          <a:xfrm>
            <a:off x="32004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Same 9 services. Two completely different deployment approaches.</a:t>
            </a:r>
          </a:p>
        </p:txBody>
      </p:sp>
      <p:sp>
        <p:nvSpPr>
          <p:cNvPr id="7" name="col_bg_0"/>
          <p:cNvSpPr/>
          <p:nvPr/>
        </p:nvSpPr>
        <p:spPr>
          <a:xfrm>
            <a:off x="365760" y="1920240"/>
            <a:ext cx="557784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l_hd_0"/>
          <p:cNvSpPr txBox="1"/>
          <p:nvPr/>
        </p:nvSpPr>
        <p:spPr>
          <a:xfrm>
            <a:off x="365760" y="20116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35"/>
                </a:solidFill>
              </a:rPr>
              <a:t>LAB 1</a:t>
            </a:r>
          </a:p>
        </p:txBody>
      </p:sp>
      <p:sp>
        <p:nvSpPr>
          <p:cNvPr id="9" name="col_items_0"/>
          <p:cNvSpPr txBox="1"/>
          <p:nvPr/>
        </p:nvSpPr>
        <p:spPr>
          <a:xfrm>
            <a:off x="548640" y="251460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kubectl apply for every resource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All manifests in lab1/ directory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9 services × 5 files = ~45 manifests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RDS endpoint hardcoded in each ConfigMap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No automation — you run every command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Zero drift detection — cluster drifts silently</a:t>
            </a:r>
          </a:p>
        </p:txBody>
      </p:sp>
      <p:sp>
        <p:nvSpPr>
          <p:cNvPr id="10" name="col_bg_1"/>
          <p:cNvSpPr/>
          <p:nvPr/>
        </p:nvSpPr>
        <p:spPr>
          <a:xfrm>
            <a:off x="6126480" y="1920240"/>
            <a:ext cx="557784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_hd_1"/>
          <p:cNvSpPr txBox="1"/>
          <p:nvPr/>
        </p:nvSpPr>
        <p:spPr>
          <a:xfrm>
            <a:off x="6126480" y="20116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6C7"/>
                </a:solidFill>
              </a:rPr>
              <a:t>LAB 2</a:t>
            </a:r>
          </a:p>
        </p:txBody>
      </p:sp>
      <p:sp>
        <p:nvSpPr>
          <p:cNvPr id="12" name="col_items_1"/>
          <p:cNvSpPr txBox="1"/>
          <p:nvPr/>
        </p:nvSpPr>
        <p:spPr>
          <a:xfrm>
            <a:off x="6309360" y="251460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ArgoCD watches zen-gitops, applies changes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Part 1: raw manifests via lab2/manifests/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Part 2: Helm charts via helm-charts/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git push = deploy (no kubectl in prod)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Configuration drift is detected and reverted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One values file change ships a new image tag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2B4A"/>
                </a:solidFill>
              </a:rPr>
              <a:t>Same cluster, same services — what changes is the process and what git controls.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g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C7"/>
                </a:solidFill>
              </a:rPr>
              <a:t>LAB JOURNEY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20040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Configuration drift: the Lab 2 demo</a:t>
            </a:r>
          </a:p>
        </p:txBody>
      </p:sp>
      <p:sp>
        <p:nvSpPr>
          <p:cNvPr id="6" name="sub"/>
          <p:cNvSpPr txBox="1"/>
          <p:nvPr/>
        </p:nvSpPr>
        <p:spPr>
          <a:xfrm>
            <a:off x="32004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55"/>
                </a:solidFill>
              </a:rPr>
              <a:t>Manually edit a live resource — watch ArgoCD detect and revert it within 3 minutes.</a:t>
            </a:r>
          </a:p>
        </p:txBody>
      </p:sp>
      <p:sp>
        <p:nvSpPr>
          <p:cNvPr id="7" name="code_bg"/>
          <p:cNvSpPr/>
          <p:nvPr/>
        </p:nvSpPr>
        <p:spPr>
          <a:xfrm>
            <a:off x="457200" y="1828800"/>
            <a:ext cx="7132320" cy="46634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"/>
          <p:cNvSpPr txBox="1"/>
          <p:nvPr/>
        </p:nvSpPr>
        <p:spPr>
          <a:xfrm>
            <a:off x="594360" y="1920240"/>
            <a:ext cx="685800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Menlo"/>
              </a:rPr>
              <a:t># Step 1 — create intentional drift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kubectl scale deployment auth-service --replicas=0 -n dev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auth-service now has 0 pods — manually broken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Step 2 — watch ArgoCD detect it (within ~3 min polling interval)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argocd app get auth-service-dev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Status: OutOfSync   Health: Missing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Step 3 — ArgoCD reverts automatically (selfHeal: true on dev)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kubectl get pods -n dev -w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auth-service-xxx   0/1   ContainerCreating   0   5s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auth-service-xxx   1/1   Running             0   25s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Step 4 — verify ArgoCD is green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argocd app get auth-service-dev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Sync: Synced    Health: Healthy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/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What to observe: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The replicas field in git is 1 (or HPA-managed in prod)</a:t>
            </a:r>
          </a:p>
          <a:p>
            <a:r>
              <a:rPr sz="1000">
                <a:solidFill>
                  <a:srgbClr val="FFFFFF"/>
                </a:solidFill>
                <a:latin typeface="Menlo"/>
              </a:rPr>
              <a:t># ArgoCD renders it from values.yaml and applies it back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7863840" y="2286000"/>
            <a:ext cx="4023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selfHeal: true — ArgoCD reverts any manual change automatically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OutOfSync → Synced happens within the 3-minute polling window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Drift demo teaches: GitOps means git is ALWAYS the authority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B4A"/>
                </a:solidFill>
              </a:rPr>
              <a:t>• Production guard: accidental kubectl won't stick past the next sync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2530</Words>
  <Application>Microsoft Macintosh PowerPoint</Application>
  <PresentationFormat>Custom</PresentationFormat>
  <Paragraphs>430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Chandika Shanmugam</cp:lastModifiedBy>
  <cp:revision>2</cp:revision>
  <dcterms:created xsi:type="dcterms:W3CDTF">2013-01-27T09:14:16Z</dcterms:created>
  <dcterms:modified xsi:type="dcterms:W3CDTF">2026-05-30T01:20:53Z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ca6565c-f314-45c8-b8ba-9d8cb64e2768_Enabled">
    <vt:lpwstr>true</vt:lpwstr>
  </property>
  <property fmtid="{D5CDD505-2E9C-101B-9397-08002B2CF9AE}" pid="3" name="MSIP_Label_bca6565c-f314-45c8-b8ba-9d8cb64e2768_SetDate">
    <vt:lpwstr>2026-05-30T01:20:53Z</vt:lpwstr>
  </property>
  <property fmtid="{D5CDD505-2E9C-101B-9397-08002B2CF9AE}" pid="4" name="MSIP_Label_bca6565c-f314-45c8-b8ba-9d8cb64e2768_Method">
    <vt:lpwstr>Privileged</vt:lpwstr>
  </property>
  <property fmtid="{D5CDD505-2E9C-101B-9397-08002B2CF9AE}" pid="5" name="MSIP_Label_bca6565c-f314-45c8-b8ba-9d8cb64e2768_Name">
    <vt:lpwstr>SharePoint_Public</vt:lpwstr>
  </property>
  <property fmtid="{D5CDD505-2E9C-101B-9397-08002B2CF9AE}" pid="6" name="MSIP_Label_bca6565c-f314-45c8-b8ba-9d8cb64e2768_SiteId">
    <vt:lpwstr>67bff79e-7f91-4433-a8e5-c9252d2ddc1d</vt:lpwstr>
  </property>
  <property fmtid="{D5CDD505-2E9C-101B-9397-08002B2CF9AE}" pid="7" name="MSIP_Label_bca6565c-f314-45c8-b8ba-9d8cb64e2768_ActionId">
    <vt:lpwstr>29515b08-50b1-4374-b27b-fc5facd32667</vt:lpwstr>
  </property>
  <property fmtid="{D5CDD505-2E9C-101B-9397-08002B2CF9AE}" pid="8" name="MSIP_Label_bca6565c-f314-45c8-b8ba-9d8cb64e2768_ContentBits">
    <vt:lpwstr>0</vt:lpwstr>
  </property>
  <property fmtid="{D5CDD505-2E9C-101B-9397-08002B2CF9AE}" pid="9" name="MSIP_Label_bca6565c-f314-45c8-b8ba-9d8cb64e2768_Tag">
    <vt:lpwstr>50, 0, 1, 1</vt:lpwstr>
  </property>
</Properties>
</file>